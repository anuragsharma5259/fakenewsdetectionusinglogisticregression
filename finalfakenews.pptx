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90" r:id="rId4"/>
  </p:sldMasterIdLst>
  <p:notesMasterIdLst>
    <p:notesMasterId r:id="rId30"/>
  </p:notesMasterIdLst>
  <p:handoutMasterIdLst>
    <p:handoutMasterId r:id="rId31"/>
  </p:handoutMasterIdLst>
  <p:sldIdLst>
    <p:sldId id="324" r:id="rId5"/>
    <p:sldId id="346" r:id="rId6"/>
    <p:sldId id="307" r:id="rId7"/>
    <p:sldId id="281" r:id="rId8"/>
    <p:sldId id="282" r:id="rId9"/>
    <p:sldId id="347" r:id="rId10"/>
    <p:sldId id="335" r:id="rId11"/>
    <p:sldId id="330" r:id="rId12"/>
    <p:sldId id="328" r:id="rId13"/>
    <p:sldId id="334" r:id="rId14"/>
    <p:sldId id="329" r:id="rId15"/>
    <p:sldId id="325" r:id="rId16"/>
    <p:sldId id="344" r:id="rId17"/>
    <p:sldId id="314" r:id="rId18"/>
    <p:sldId id="327" r:id="rId19"/>
    <p:sldId id="317" r:id="rId20"/>
    <p:sldId id="318" r:id="rId21"/>
    <p:sldId id="319" r:id="rId22"/>
    <p:sldId id="345" r:id="rId23"/>
    <p:sldId id="342" r:id="rId24"/>
    <p:sldId id="341" r:id="rId25"/>
    <p:sldId id="343" r:id="rId26"/>
    <p:sldId id="338" r:id="rId27"/>
    <p:sldId id="339" r:id="rId28"/>
    <p:sldId id="297" r:id="rId2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FEF"/>
    <a:srgbClr val="202C8F"/>
    <a:srgbClr val="FCFBF6"/>
    <a:srgbClr val="FDFBF6"/>
    <a:srgbClr val="AAC4E9"/>
    <a:srgbClr val="F5CDCE"/>
    <a:srgbClr val="DF8C8C"/>
    <a:srgbClr val="D4D593"/>
    <a:srgbClr val="E6F0FE"/>
    <a:srgbClr val="CDBE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5388" autoAdjust="0"/>
  </p:normalViewPr>
  <p:slideViewPr>
    <p:cSldViewPr snapToGrid="0" snapToObjects="1">
      <p:cViewPr varScale="1">
        <p:scale>
          <a:sx n="78" d="100"/>
          <a:sy n="78" d="100"/>
        </p:scale>
        <p:origin x="1109"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IN" dirty="0"/>
          </a:p>
        </p:txBody>
      </p:sp>
    </p:spTree>
    <p:extLst>
      <p:ext uri="{BB962C8B-B14F-4D97-AF65-F5344CB8AC3E}">
        <p14:creationId xmlns:p14="http://schemas.microsoft.com/office/powerpoint/2010/main" val="3537352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F89F8C-7C18-48BC-91E4-7EF7CB645A2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3511402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F89F8C-7C18-48BC-91E4-7EF7CB645A2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01845721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F89F8C-7C18-48BC-91E4-7EF7CB645A2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9104388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F89F8C-7C18-48BC-91E4-7EF7CB645A2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6385092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F89F8C-7C18-48BC-91E4-7EF7CB645A2E}" type="datetimeFigureOut">
              <a:rPr lang="en-IN" smtClean="0"/>
              <a:t>01-05-2025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6758857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F89F8C-7C18-48BC-91E4-7EF7CB645A2E}"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8F63A3B-78C7-47BE-AE5E-E10140E04643}" type="slidenum">
              <a:rPr lang="en-US" smtClean="0"/>
              <a:pPr/>
              <a:t>‹#›</a:t>
            </a:fld>
            <a:endParaRPr lang="en-US" dirty="0"/>
          </a:p>
        </p:txBody>
      </p:sp>
      <p:sp>
        <p:nvSpPr>
          <p:cNvPr id="6" name="Freeform: Shape 5">
            <a:extLst>
              <a:ext uri="{FF2B5EF4-FFF2-40B4-BE49-F238E27FC236}">
                <a16:creationId xmlns:a16="http://schemas.microsoft.com/office/drawing/2014/main" id="{56C8CFB9-0BDA-5443-346B-568349B8F957}"/>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4A924DA2-0FFC-EC31-5670-10D9A5B8E77A}"/>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43751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F89F8C-7C18-48BC-91E4-7EF7CB645A2E}" type="datetimeFigureOut">
              <a:rPr lang="en-IN" smtClean="0"/>
              <a:t>01-05-2025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8F63A3B-78C7-47BE-AE5E-E10140E04643}" type="slidenum">
              <a:rPr lang="en-US" smtClean="0"/>
              <a:pPr/>
              <a:t>‹#›</a:t>
            </a:fld>
            <a:endParaRPr lang="en-US" dirty="0"/>
          </a:p>
        </p:txBody>
      </p:sp>
      <p:sp>
        <p:nvSpPr>
          <p:cNvPr id="5" name="Freeform: Shape 4">
            <a:extLst>
              <a:ext uri="{FF2B5EF4-FFF2-40B4-BE49-F238E27FC236}">
                <a16:creationId xmlns:a16="http://schemas.microsoft.com/office/drawing/2014/main" id="{704D729D-4525-6DFF-45B3-2304CB011F5B}"/>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D6B00391-D726-A20B-DCA5-1F0509D5A61F}"/>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670606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F89F8C-7C18-48BC-91E4-7EF7CB645A2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
        <p:nvSpPr>
          <p:cNvPr id="8" name="Freeform: Shape 7">
            <a:extLst>
              <a:ext uri="{FF2B5EF4-FFF2-40B4-BE49-F238E27FC236}">
                <a16:creationId xmlns:a16="http://schemas.microsoft.com/office/drawing/2014/main" id="{7676A4FE-39FA-4484-87E7-281FD63835AD}"/>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065933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F89F8C-7C18-48BC-91E4-7EF7CB645A2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68268281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F89F8C-7C18-48BC-91E4-7EF7CB645A2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429077384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F89F8C-7C18-48BC-91E4-7EF7CB645A2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F63A3B-78C7-47BE-AE5E-E10140E04643}"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7493738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DF89F8C-7C18-48BC-91E4-7EF7CB645A2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59712145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DF89F8C-7C18-48BC-91E4-7EF7CB645A2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F63A3B-78C7-47BE-AE5E-E10140E04643}"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1861851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DF89F8C-7C18-48BC-91E4-7EF7CB645A2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68094016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F89F8C-7C18-48BC-91E4-7EF7CB645A2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82010699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F89F8C-7C18-48BC-91E4-7EF7CB645A2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306627332"/>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021411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37297224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9941937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8304585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6263464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988491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298145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1175428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292116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Closin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492415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DF89F8C-7C18-48BC-91E4-7EF7CB645A2E}" type="datetimeFigureOut">
              <a:rPr lang="en-IN" smtClean="0"/>
              <a:t>01-05-2025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727640322"/>
      </p:ext>
    </p:extLst>
  </p:cSld>
  <p:clrMap bg1="lt1" tx1="dk1" bg2="lt2" tx2="dk2" accent1="accent1" accent2="accent2" accent3="accent3" accent4="accent4" accent5="accent5" accent6="accent6" hlink="hlink" folHlink="folHlink"/>
  <p:sldLayoutIdLst>
    <p:sldLayoutId id="2147484091" r:id="rId1"/>
    <p:sldLayoutId id="2147484092" r:id="rId2"/>
    <p:sldLayoutId id="2147484093" r:id="rId3"/>
    <p:sldLayoutId id="2147484094" r:id="rId4"/>
    <p:sldLayoutId id="2147484095" r:id="rId5"/>
    <p:sldLayoutId id="2147484096" r:id="rId6"/>
    <p:sldLayoutId id="2147484097" r:id="rId7"/>
    <p:sldLayoutId id="2147484098" r:id="rId8"/>
    <p:sldLayoutId id="2147484099" r:id="rId9"/>
    <p:sldLayoutId id="2147484100" r:id="rId10"/>
    <p:sldLayoutId id="2147484101" r:id="rId11"/>
    <p:sldLayoutId id="2147484102" r:id="rId12"/>
    <p:sldLayoutId id="2147484103" r:id="rId13"/>
    <p:sldLayoutId id="2147484104" r:id="rId14"/>
    <p:sldLayoutId id="2147484105" r:id="rId15"/>
    <p:sldLayoutId id="2147484106" r:id="rId16"/>
    <p:sldLayoutId id="2147484107" r:id="rId17"/>
    <p:sldLayoutId id="2147484108" r:id="rId18"/>
    <p:sldLayoutId id="2147484109" r:id="rId19"/>
    <p:sldLayoutId id="2147484110" r:id="rId20"/>
    <p:sldLayoutId id="2147484111" r:id="rId21"/>
    <p:sldLayoutId id="2147484112" r:id="rId22"/>
    <p:sldLayoutId id="2147484113" r:id="rId23"/>
    <p:sldLayoutId id="2147484114" r:id="rId24"/>
    <p:sldLayoutId id="2147484115" r:id="rId25"/>
    <p:sldLayoutId id="2147484116" r:id="rId26"/>
    <p:sldLayoutId id="2147483651" r:id="rId27"/>
    <p:sldLayoutId id="2147483686" r:id="rId28"/>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4EA393-B125-2960-8F99-8A7376043B09}"/>
              </a:ext>
            </a:extLst>
          </p:cNvPr>
          <p:cNvSpPr>
            <a:spLocks noGrp="1"/>
          </p:cNvSpPr>
          <p:nvPr>
            <p:ph type="sldNum" sz="quarter" idx="12"/>
          </p:nvPr>
        </p:nvSpPr>
        <p:spPr/>
        <p:txBody>
          <a:bodyPr/>
          <a:lstStyle/>
          <a:p>
            <a:fld id="{48F63A3B-78C7-47BE-AE5E-E10140E04643}" type="slidenum">
              <a:rPr lang="en-US" smtClean="0"/>
              <a:pPr/>
              <a:t>1</a:t>
            </a:fld>
            <a:endParaRPr lang="en-US" dirty="0"/>
          </a:p>
        </p:txBody>
      </p:sp>
      <p:sp>
        <p:nvSpPr>
          <p:cNvPr id="7" name="TextBox 6">
            <a:extLst>
              <a:ext uri="{FF2B5EF4-FFF2-40B4-BE49-F238E27FC236}">
                <a16:creationId xmlns:a16="http://schemas.microsoft.com/office/drawing/2014/main" id="{08C32D3F-152C-EFC2-016E-F8515E9C37E9}"/>
              </a:ext>
            </a:extLst>
          </p:cNvPr>
          <p:cNvSpPr txBox="1"/>
          <p:nvPr/>
        </p:nvSpPr>
        <p:spPr>
          <a:xfrm>
            <a:off x="-91439" y="88802"/>
            <a:ext cx="12283440" cy="954107"/>
          </a:xfrm>
          <a:prstGeom prst="rect">
            <a:avLst/>
          </a:prstGeom>
          <a:noFill/>
        </p:spPr>
        <p:txBody>
          <a:bodyPr wrap="square">
            <a:spAutoFit/>
          </a:bodyPr>
          <a:lstStyle/>
          <a:p>
            <a:pPr algn="ctr"/>
            <a:r>
              <a:rPr lang="en-US" sz="2800" dirty="0"/>
              <a:t>PROJECT :- FAKE NEWS DETECTION USING LOGISTIC REGRESSION </a:t>
            </a:r>
          </a:p>
          <a:p>
            <a:endParaRPr lang="en-IN" sz="2800" dirty="0"/>
          </a:p>
        </p:txBody>
      </p:sp>
      <p:sp>
        <p:nvSpPr>
          <p:cNvPr id="8" name="TextBox 7">
            <a:extLst>
              <a:ext uri="{FF2B5EF4-FFF2-40B4-BE49-F238E27FC236}">
                <a16:creationId xmlns:a16="http://schemas.microsoft.com/office/drawing/2014/main" id="{7EE62594-6BB6-14E4-0E72-5ECE273FD604}"/>
              </a:ext>
            </a:extLst>
          </p:cNvPr>
          <p:cNvSpPr txBox="1"/>
          <p:nvPr/>
        </p:nvSpPr>
        <p:spPr>
          <a:xfrm>
            <a:off x="1439408" y="3129498"/>
            <a:ext cx="9221745" cy="2400657"/>
          </a:xfrm>
          <a:prstGeom prst="rect">
            <a:avLst/>
          </a:prstGeom>
          <a:noFill/>
        </p:spPr>
        <p:txBody>
          <a:bodyPr wrap="square">
            <a:spAutoFit/>
          </a:bodyPr>
          <a:lstStyle/>
          <a:p>
            <a:pPr algn="ctr"/>
            <a:r>
              <a:rPr lang="en-US" sz="3000" dirty="0"/>
              <a:t>MAULANA AZAD NATIONAL INSTITUTE OF TECHNOLOGY</a:t>
            </a:r>
          </a:p>
          <a:p>
            <a:pPr algn="ctr"/>
            <a:r>
              <a:rPr lang="en-US" sz="3200" dirty="0"/>
              <a:t>Minor Project(CA-406)</a:t>
            </a:r>
            <a:endParaRPr lang="en-IN" sz="3200" dirty="0"/>
          </a:p>
          <a:p>
            <a:pPr algn="ctr"/>
            <a:r>
              <a:rPr lang="en-US" sz="3000" dirty="0"/>
              <a:t> </a:t>
            </a:r>
          </a:p>
          <a:p>
            <a:endParaRPr lang="en-IN" sz="2800" dirty="0"/>
          </a:p>
        </p:txBody>
      </p:sp>
      <p:pic>
        <p:nvPicPr>
          <p:cNvPr id="12" name="Picture 11">
            <a:extLst>
              <a:ext uri="{FF2B5EF4-FFF2-40B4-BE49-F238E27FC236}">
                <a16:creationId xmlns:a16="http://schemas.microsoft.com/office/drawing/2014/main" id="{902D24B9-7C8C-B4D8-53A7-F71170D89BC2}"/>
              </a:ext>
            </a:extLst>
          </p:cNvPr>
          <p:cNvPicPr>
            <a:picLocks noChangeAspect="1"/>
          </p:cNvPicPr>
          <p:nvPr/>
        </p:nvPicPr>
        <p:blipFill>
          <a:blip r:embed="rId3"/>
          <a:stretch>
            <a:fillRect/>
          </a:stretch>
        </p:blipFill>
        <p:spPr>
          <a:xfrm>
            <a:off x="5276780" y="637603"/>
            <a:ext cx="1638437" cy="1464162"/>
          </a:xfrm>
          <a:prstGeom prst="rect">
            <a:avLst/>
          </a:prstGeom>
        </p:spPr>
      </p:pic>
      <p:sp>
        <p:nvSpPr>
          <p:cNvPr id="13" name="TextBox 12">
            <a:extLst>
              <a:ext uri="{FF2B5EF4-FFF2-40B4-BE49-F238E27FC236}">
                <a16:creationId xmlns:a16="http://schemas.microsoft.com/office/drawing/2014/main" id="{50C83325-AEB3-5633-DA76-74EAD4C72D33}"/>
              </a:ext>
            </a:extLst>
          </p:cNvPr>
          <p:cNvSpPr txBox="1"/>
          <p:nvPr/>
        </p:nvSpPr>
        <p:spPr>
          <a:xfrm>
            <a:off x="1844575" y="2215471"/>
            <a:ext cx="9098728" cy="1815882"/>
          </a:xfrm>
          <a:prstGeom prst="rect">
            <a:avLst/>
          </a:prstGeom>
          <a:noFill/>
        </p:spPr>
        <p:txBody>
          <a:bodyPr wrap="square">
            <a:spAutoFit/>
          </a:bodyPr>
          <a:lstStyle/>
          <a:p>
            <a:pPr algn="ctr"/>
            <a:r>
              <a:rPr lang="en-IN" sz="2800" dirty="0"/>
              <a:t>DEPARTMENT OF MATHEMATICS, BIOINFORMATICS, AND COMPUTER APPLICATIONS</a:t>
            </a:r>
          </a:p>
          <a:p>
            <a:pPr algn="ctr"/>
            <a:endParaRPr lang="en-IN" sz="2800" dirty="0"/>
          </a:p>
          <a:p>
            <a:endParaRPr lang="en-IN" sz="2800" dirty="0"/>
          </a:p>
        </p:txBody>
      </p:sp>
      <p:sp>
        <p:nvSpPr>
          <p:cNvPr id="14" name="TextBox 13">
            <a:extLst>
              <a:ext uri="{FF2B5EF4-FFF2-40B4-BE49-F238E27FC236}">
                <a16:creationId xmlns:a16="http://schemas.microsoft.com/office/drawing/2014/main" id="{0044A500-8F88-D8F6-0F1B-3EF5D146B3AD}"/>
              </a:ext>
            </a:extLst>
          </p:cNvPr>
          <p:cNvSpPr txBox="1"/>
          <p:nvPr/>
        </p:nvSpPr>
        <p:spPr>
          <a:xfrm>
            <a:off x="-382378" y="4907970"/>
            <a:ext cx="5359079" cy="1384995"/>
          </a:xfrm>
          <a:prstGeom prst="rect">
            <a:avLst/>
          </a:prstGeom>
          <a:noFill/>
        </p:spPr>
        <p:txBody>
          <a:bodyPr wrap="square">
            <a:spAutoFit/>
          </a:bodyPr>
          <a:lstStyle/>
          <a:p>
            <a:pPr algn="ctr"/>
            <a:r>
              <a:rPr lang="en-US" sz="2800" dirty="0"/>
              <a:t>GUIDED BY :- </a:t>
            </a:r>
          </a:p>
          <a:p>
            <a:pPr algn="ctr"/>
            <a:r>
              <a:rPr lang="en-US" sz="2800" dirty="0"/>
              <a:t>Dr. AMIT BHAGAT</a:t>
            </a:r>
          </a:p>
          <a:p>
            <a:pPr algn="ctr"/>
            <a:endParaRPr lang="en-IN" sz="2800" dirty="0"/>
          </a:p>
        </p:txBody>
      </p:sp>
      <p:sp>
        <p:nvSpPr>
          <p:cNvPr id="15" name="TextBox 14">
            <a:extLst>
              <a:ext uri="{FF2B5EF4-FFF2-40B4-BE49-F238E27FC236}">
                <a16:creationId xmlns:a16="http://schemas.microsoft.com/office/drawing/2014/main" id="{CFA59C97-2F23-9696-11F7-250E0AA813A9}"/>
              </a:ext>
            </a:extLst>
          </p:cNvPr>
          <p:cNvSpPr txBox="1"/>
          <p:nvPr/>
        </p:nvSpPr>
        <p:spPr>
          <a:xfrm>
            <a:off x="6566971" y="4411708"/>
            <a:ext cx="6077020" cy="2236894"/>
          </a:xfrm>
          <a:prstGeom prst="rect">
            <a:avLst/>
          </a:prstGeom>
          <a:noFill/>
        </p:spPr>
        <p:txBody>
          <a:bodyPr wrap="square">
            <a:spAutoFit/>
          </a:bodyPr>
          <a:lstStyle/>
          <a:p>
            <a:pPr algn="ctr">
              <a:lnSpc>
                <a:spcPct val="150000"/>
              </a:lnSpc>
            </a:pPr>
            <a:r>
              <a:rPr lang="en-US" sz="2400" dirty="0"/>
              <a:t> PRESENTED BY :-</a:t>
            </a:r>
          </a:p>
          <a:p>
            <a:pPr algn="ctr">
              <a:lnSpc>
                <a:spcPct val="150000"/>
              </a:lnSpc>
            </a:pPr>
            <a:r>
              <a:rPr lang="en-US" sz="2400" dirty="0"/>
              <a:t>AMIT MONDAL-2320403226</a:t>
            </a:r>
            <a:br>
              <a:rPr lang="en-US" sz="2400" dirty="0"/>
            </a:br>
            <a:r>
              <a:rPr lang="en-US" sz="2400" dirty="0"/>
              <a:t>ANURAG SHARMA-2320403227</a:t>
            </a:r>
          </a:p>
          <a:p>
            <a:pPr algn="ctr">
              <a:lnSpc>
                <a:spcPct val="150000"/>
              </a:lnSpc>
            </a:pPr>
            <a:r>
              <a:rPr lang="en-US" sz="2400" dirty="0"/>
              <a:t>(MCA-IV)</a:t>
            </a:r>
          </a:p>
        </p:txBody>
      </p:sp>
    </p:spTree>
    <p:extLst>
      <p:ext uri="{BB962C8B-B14F-4D97-AF65-F5344CB8AC3E}">
        <p14:creationId xmlns:p14="http://schemas.microsoft.com/office/powerpoint/2010/main" val="2428390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09B4F42-065F-E9F0-E76F-8C53AE3B6500}"/>
              </a:ext>
            </a:extLst>
          </p:cNvPr>
          <p:cNvSpPr txBox="1"/>
          <p:nvPr/>
        </p:nvSpPr>
        <p:spPr>
          <a:xfrm>
            <a:off x="1848463" y="1754095"/>
            <a:ext cx="7905135" cy="4549835"/>
          </a:xfrm>
          <a:prstGeom prst="rect">
            <a:avLst/>
          </a:prstGeom>
          <a:noFill/>
        </p:spPr>
        <p:txBody>
          <a:bodyPr wrap="square">
            <a:spAutoFit/>
          </a:bodyPr>
          <a:lstStyle/>
          <a:p>
            <a:pPr>
              <a:lnSpc>
                <a:spcPct val="150000"/>
              </a:lnSpc>
              <a:buFont typeface="Arial" panose="020B0604020202020204" pitchFamily="34" charset="0"/>
              <a:buChar char="•"/>
            </a:pPr>
            <a:r>
              <a:rPr lang="en-US" sz="2800" dirty="0"/>
              <a:t> Introduction</a:t>
            </a:r>
          </a:p>
          <a:p>
            <a:pPr>
              <a:lnSpc>
                <a:spcPct val="150000"/>
              </a:lnSpc>
              <a:buFont typeface="Arial" panose="020B0604020202020204" pitchFamily="34" charset="0"/>
              <a:buChar char="•"/>
            </a:pPr>
            <a:r>
              <a:rPr lang="en-US" sz="2800" dirty="0"/>
              <a:t> Project Objective</a:t>
            </a:r>
          </a:p>
          <a:p>
            <a:pPr>
              <a:lnSpc>
                <a:spcPct val="150000"/>
              </a:lnSpc>
              <a:buFont typeface="Arial" panose="020B0604020202020204" pitchFamily="34" charset="0"/>
              <a:buChar char="•"/>
            </a:pPr>
            <a:r>
              <a:rPr lang="en-US" sz="2800" dirty="0"/>
              <a:t> Model</a:t>
            </a:r>
          </a:p>
          <a:p>
            <a:pPr>
              <a:lnSpc>
                <a:spcPct val="150000"/>
              </a:lnSpc>
              <a:buFont typeface="Arial" panose="020B0604020202020204" pitchFamily="34" charset="0"/>
              <a:buChar char="•"/>
            </a:pPr>
            <a:r>
              <a:rPr lang="en-US" sz="2800" dirty="0"/>
              <a:t> Workflow</a:t>
            </a:r>
          </a:p>
          <a:p>
            <a:pPr>
              <a:lnSpc>
                <a:spcPct val="150000"/>
              </a:lnSpc>
              <a:buFont typeface="Arial" panose="020B0604020202020204" pitchFamily="34" charset="0"/>
              <a:buChar char="•"/>
            </a:pPr>
            <a:r>
              <a:rPr lang="en-US" sz="2800" dirty="0"/>
              <a:t> Implementation</a:t>
            </a:r>
          </a:p>
          <a:p>
            <a:pPr>
              <a:lnSpc>
                <a:spcPct val="150000"/>
              </a:lnSpc>
              <a:buFont typeface="Arial" panose="020B0604020202020204" pitchFamily="34" charset="0"/>
              <a:buChar char="•"/>
            </a:pPr>
            <a:r>
              <a:rPr lang="en-US" sz="2800" dirty="0"/>
              <a:t> References</a:t>
            </a:r>
          </a:p>
          <a:p>
            <a:pPr>
              <a:lnSpc>
                <a:spcPct val="150000"/>
              </a:lnSpc>
              <a:buFont typeface="Arial" panose="020B0604020202020204" pitchFamily="34" charset="0"/>
              <a:buChar char="•"/>
            </a:pPr>
            <a:r>
              <a:rPr lang="en-US" sz="2800" dirty="0"/>
              <a:t> Conclusion</a:t>
            </a:r>
          </a:p>
        </p:txBody>
      </p:sp>
      <p:sp>
        <p:nvSpPr>
          <p:cNvPr id="8" name="TextBox 7">
            <a:extLst>
              <a:ext uri="{FF2B5EF4-FFF2-40B4-BE49-F238E27FC236}">
                <a16:creationId xmlns:a16="http://schemas.microsoft.com/office/drawing/2014/main" id="{F6108E7E-EA80-7805-FB2E-0BE4B2243962}"/>
              </a:ext>
            </a:extLst>
          </p:cNvPr>
          <p:cNvSpPr txBox="1"/>
          <p:nvPr/>
        </p:nvSpPr>
        <p:spPr>
          <a:xfrm>
            <a:off x="1848463" y="670623"/>
            <a:ext cx="6096000" cy="769441"/>
          </a:xfrm>
          <a:prstGeom prst="rect">
            <a:avLst/>
          </a:prstGeom>
          <a:noFill/>
        </p:spPr>
        <p:txBody>
          <a:bodyPr wrap="square">
            <a:spAutoFit/>
          </a:bodyPr>
          <a:lstStyle/>
          <a:p>
            <a:pPr>
              <a:buNone/>
            </a:pPr>
            <a:r>
              <a:rPr lang="en-US" sz="4400" b="1" dirty="0"/>
              <a:t>Content</a:t>
            </a:r>
          </a:p>
        </p:txBody>
      </p:sp>
    </p:spTree>
    <p:extLst>
      <p:ext uri="{BB962C8B-B14F-4D97-AF65-F5344CB8AC3E}">
        <p14:creationId xmlns:p14="http://schemas.microsoft.com/office/powerpoint/2010/main" val="2308120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2916219" y="69448"/>
            <a:ext cx="8542717" cy="2428568"/>
          </a:xfrm>
        </p:spPr>
        <p:txBody>
          <a:bodyPr/>
          <a:lstStyle/>
          <a:p>
            <a:r>
              <a:rPr lang="en-US" sz="4800" dirty="0"/>
              <a:t>What is fake news </a:t>
            </a:r>
            <a:r>
              <a:rPr lang="en-US" sz="4400" dirty="0"/>
              <a:t>?</a:t>
            </a:r>
          </a:p>
        </p:txBody>
      </p:sp>
      <p:sp>
        <p:nvSpPr>
          <p:cNvPr id="6" name="TextBox 5">
            <a:extLst>
              <a:ext uri="{FF2B5EF4-FFF2-40B4-BE49-F238E27FC236}">
                <a16:creationId xmlns:a16="http://schemas.microsoft.com/office/drawing/2014/main" id="{30A20A4E-70C5-5080-A0D1-E590C98DC71B}"/>
              </a:ext>
            </a:extLst>
          </p:cNvPr>
          <p:cNvSpPr txBox="1"/>
          <p:nvPr/>
        </p:nvSpPr>
        <p:spPr>
          <a:xfrm>
            <a:off x="2118997" y="2081012"/>
            <a:ext cx="7858380" cy="2677656"/>
          </a:xfrm>
          <a:prstGeom prst="rect">
            <a:avLst/>
          </a:prstGeom>
          <a:noFill/>
        </p:spPr>
        <p:txBody>
          <a:bodyPr wrap="square">
            <a:spAutoFit/>
          </a:bodyPr>
          <a:lstStyle/>
          <a:p>
            <a:pPr algn="just"/>
            <a:r>
              <a:rPr lang="en-US" sz="2800" b="1" dirty="0"/>
              <a:t>Fake news</a:t>
            </a:r>
            <a:r>
              <a:rPr lang="en-US" sz="2800" dirty="0"/>
              <a:t> refers to false or misleading information presented as real news. It is intentionally created to deceive people, influence opinions, or generate profits. Fake news spreads easily on social media and can have serious consequences, such as misinformation in politics, health, and finance.</a:t>
            </a:r>
            <a:endParaRPr lang="en-IN" sz="2800" dirty="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2792961" y="829787"/>
            <a:ext cx="6606077" cy="1526858"/>
          </a:xfrm>
        </p:spPr>
        <p:txBody>
          <a:bodyPr/>
          <a:lstStyle/>
          <a:p>
            <a:r>
              <a:rPr lang="en-IN" sz="4800" b="1" dirty="0"/>
              <a:t>How Fake News Spreads</a:t>
            </a:r>
            <a:endParaRPr lang="en-US" sz="4800" b="1" dirty="0"/>
          </a:p>
        </p:txBody>
      </p:sp>
      <p:sp>
        <p:nvSpPr>
          <p:cNvPr id="8" name="Rectangle 2">
            <a:extLst>
              <a:ext uri="{FF2B5EF4-FFF2-40B4-BE49-F238E27FC236}">
                <a16:creationId xmlns:a16="http://schemas.microsoft.com/office/drawing/2014/main" id="{03D25E8A-26EE-9B1E-1243-C37533A62BFE}"/>
              </a:ext>
            </a:extLst>
          </p:cNvPr>
          <p:cNvSpPr>
            <a:spLocks noGrp="1" noChangeArrowheads="1"/>
          </p:cNvSpPr>
          <p:nvPr>
            <p:ph idx="1"/>
          </p:nvPr>
        </p:nvSpPr>
        <p:spPr bwMode="auto">
          <a:xfrm>
            <a:off x="2247022" y="2356645"/>
            <a:ext cx="769795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Arial" panose="020B0604020202020204" pitchFamily="34" charset="0"/>
              </a:rPr>
              <a:t>Social Media</a:t>
            </a:r>
            <a:r>
              <a:rPr kumimoji="0" lang="en-US" altLang="en-US" b="0" i="0" u="none" strike="noStrike" cap="none" normalizeH="0" baseline="0" dirty="0">
                <a:ln>
                  <a:noFill/>
                </a:ln>
                <a:solidFill>
                  <a:schemeClr val="tx1"/>
                </a:solidFill>
                <a:effectLst/>
                <a:latin typeface="Arial" panose="020B0604020202020204" pitchFamily="34" charset="0"/>
              </a:rPr>
              <a:t> – Fake news spreads quickly on platforms like Facebook, Twitter, and WhatsApp.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Arial" panose="020B0604020202020204" pitchFamily="34" charset="0"/>
              </a:rPr>
              <a:t>Bots &amp; Trolls</a:t>
            </a:r>
            <a:r>
              <a:rPr kumimoji="0" lang="en-US" altLang="en-US" b="0" i="0" u="none" strike="noStrike" cap="none" normalizeH="0" baseline="0" dirty="0">
                <a:ln>
                  <a:noFill/>
                </a:ln>
                <a:solidFill>
                  <a:schemeClr val="tx1"/>
                </a:solidFill>
                <a:effectLst/>
                <a:latin typeface="Arial" panose="020B0604020202020204" pitchFamily="34" charset="0"/>
              </a:rPr>
              <a:t> – Automated accounts and paid individuals spread fake news to manipulate opinions.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Arial" panose="020B0604020202020204" pitchFamily="34" charset="0"/>
              </a:rPr>
              <a:t>Poor Fact-Checking</a:t>
            </a:r>
            <a:r>
              <a:rPr kumimoji="0" lang="en-US" altLang="en-US" b="0" i="0" u="none" strike="noStrike" cap="none" normalizeH="0" baseline="0" dirty="0">
                <a:ln>
                  <a:noFill/>
                </a:ln>
                <a:solidFill>
                  <a:schemeClr val="tx1"/>
                </a:solidFill>
                <a:effectLst/>
                <a:latin typeface="Arial" panose="020B0604020202020204" pitchFamily="34" charset="0"/>
              </a:rPr>
              <a:t> – People share information without verifying its authenticity. </a:t>
            </a: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2029410" y="431606"/>
            <a:ext cx="7965461" cy="994164"/>
          </a:xfrm>
        </p:spPr>
        <p:txBody>
          <a:bodyPr/>
          <a:lstStyle/>
          <a:p>
            <a:r>
              <a:rPr lang="en-US" sz="4400" dirty="0"/>
              <a:t>Why Fake News is Dangerous</a:t>
            </a:r>
          </a:p>
        </p:txBody>
      </p:sp>
      <p:sp>
        <p:nvSpPr>
          <p:cNvPr id="5" name="Rectangle 2">
            <a:extLst>
              <a:ext uri="{FF2B5EF4-FFF2-40B4-BE49-F238E27FC236}">
                <a16:creationId xmlns:a16="http://schemas.microsoft.com/office/drawing/2014/main" id="{B6EF8D06-0B9B-16CD-9927-78ABF539B3D1}"/>
              </a:ext>
            </a:extLst>
          </p:cNvPr>
          <p:cNvSpPr>
            <a:spLocks noGrp="1" noChangeArrowheads="1"/>
          </p:cNvSpPr>
          <p:nvPr>
            <p:ph sz="half" idx="2"/>
          </p:nvPr>
        </p:nvSpPr>
        <p:spPr bwMode="auto">
          <a:xfrm>
            <a:off x="1342815" y="1743108"/>
            <a:ext cx="823963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a:ln>
                  <a:noFill/>
                </a:ln>
                <a:solidFill>
                  <a:schemeClr val="tx1"/>
                </a:solidFill>
                <a:effectLst/>
                <a:latin typeface="Arial" panose="020B0604020202020204" pitchFamily="34" charset="0"/>
              </a:rPr>
              <a:t>Affects Public Opinion</a:t>
            </a:r>
            <a:r>
              <a:rPr kumimoji="0" lang="en-US" altLang="en-US" sz="2400" b="0" i="0" u="none" strike="noStrike" cap="none" normalizeH="0" baseline="0" dirty="0">
                <a:ln>
                  <a:noFill/>
                </a:ln>
                <a:solidFill>
                  <a:schemeClr val="tx1"/>
                </a:solidFill>
                <a:effectLst/>
                <a:latin typeface="Arial" panose="020B0604020202020204" pitchFamily="34" charset="0"/>
              </a:rPr>
              <a:t> – Can mislead voters and impact elections.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a:ln>
                  <a:noFill/>
                </a:ln>
                <a:solidFill>
                  <a:schemeClr val="tx1"/>
                </a:solidFill>
                <a:effectLst/>
                <a:latin typeface="Arial" panose="020B0604020202020204" pitchFamily="34" charset="0"/>
              </a:rPr>
              <a:t>Harms Health</a:t>
            </a:r>
            <a:r>
              <a:rPr kumimoji="0" lang="en-US" altLang="en-US" sz="2400" b="0" i="0" u="none" strike="noStrike" cap="none" normalizeH="0" baseline="0" dirty="0">
                <a:ln>
                  <a:noFill/>
                </a:ln>
                <a:solidFill>
                  <a:schemeClr val="tx1"/>
                </a:solidFill>
                <a:effectLst/>
                <a:latin typeface="Arial" panose="020B0604020202020204" pitchFamily="34" charset="0"/>
              </a:rPr>
              <a:t> – Spreads false medical advice (e.g., fake COVID-19 cures).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a:ln>
                  <a:noFill/>
                </a:ln>
                <a:solidFill>
                  <a:schemeClr val="tx1"/>
                </a:solidFill>
                <a:effectLst/>
                <a:latin typeface="Arial" panose="020B0604020202020204" pitchFamily="34" charset="0"/>
              </a:rPr>
              <a:t>Economic Losses</a:t>
            </a:r>
            <a:r>
              <a:rPr kumimoji="0" lang="en-US" altLang="en-US" sz="2400" b="0" i="0" u="none" strike="noStrike" cap="none" normalizeH="0" baseline="0" dirty="0">
                <a:ln>
                  <a:noFill/>
                </a:ln>
                <a:solidFill>
                  <a:schemeClr val="tx1"/>
                </a:solidFill>
                <a:effectLst/>
                <a:latin typeface="Arial" panose="020B0604020202020204" pitchFamily="34" charset="0"/>
              </a:rPr>
              <a:t> – Affects stock markets and businesses.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dirty="0">
                <a:ln>
                  <a:noFill/>
                </a:ln>
                <a:solidFill>
                  <a:schemeClr val="tx1"/>
                </a:solidFill>
                <a:effectLst/>
                <a:latin typeface="Arial" panose="020B0604020202020204" pitchFamily="34" charset="0"/>
              </a:rPr>
              <a:t>Social Division</a:t>
            </a:r>
            <a:r>
              <a:rPr kumimoji="0" lang="en-US" altLang="en-US" sz="2400" b="0" i="0" u="none" strike="noStrike" cap="none" normalizeH="0" baseline="0" dirty="0">
                <a:ln>
                  <a:noFill/>
                </a:ln>
                <a:solidFill>
                  <a:schemeClr val="tx1"/>
                </a:solidFill>
                <a:effectLst/>
                <a:latin typeface="Arial" panose="020B0604020202020204" pitchFamily="34" charset="0"/>
              </a:rPr>
              <a:t> – Creates hatred, fear, or panic among people. </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8D90B-B74B-E512-8620-D7A5E21D4854}"/>
              </a:ext>
            </a:extLst>
          </p:cNvPr>
          <p:cNvSpPr>
            <a:spLocks noGrp="1"/>
          </p:cNvSpPr>
          <p:nvPr>
            <p:ph type="title"/>
          </p:nvPr>
        </p:nvSpPr>
        <p:spPr>
          <a:xfrm>
            <a:off x="1560538" y="624110"/>
            <a:ext cx="8911687" cy="1280890"/>
          </a:xfrm>
        </p:spPr>
        <p:txBody>
          <a:bodyPr/>
          <a:lstStyle/>
          <a:p>
            <a:pPr algn="ctr"/>
            <a:r>
              <a:rPr lang="en-US" sz="4800" b="1" dirty="0"/>
              <a:t>Objective</a:t>
            </a:r>
            <a:endParaRPr lang="en-IN" b="1" dirty="0"/>
          </a:p>
        </p:txBody>
      </p:sp>
      <p:sp>
        <p:nvSpPr>
          <p:cNvPr id="3" name="Content Placeholder 2">
            <a:extLst>
              <a:ext uri="{FF2B5EF4-FFF2-40B4-BE49-F238E27FC236}">
                <a16:creationId xmlns:a16="http://schemas.microsoft.com/office/drawing/2014/main" id="{4554E69B-0198-59F8-9746-E1E4F3BBC1E0}"/>
              </a:ext>
            </a:extLst>
          </p:cNvPr>
          <p:cNvSpPr>
            <a:spLocks noGrp="1"/>
          </p:cNvSpPr>
          <p:nvPr>
            <p:ph idx="1"/>
          </p:nvPr>
        </p:nvSpPr>
        <p:spPr>
          <a:xfrm>
            <a:off x="1142999" y="1907533"/>
            <a:ext cx="10515600" cy="2814690"/>
          </a:xfrm>
        </p:spPr>
        <p:txBody>
          <a:bodyPr>
            <a:normAutofit/>
          </a:bodyPr>
          <a:lstStyle/>
          <a:p>
            <a:pPr marL="0" indent="0" algn="ctr">
              <a:buNone/>
            </a:pPr>
            <a:r>
              <a:rPr lang="en-US" sz="2800" dirty="0"/>
              <a:t>To develop a machine learning model that can automatically classify news articles as real or fake using logistic regression, helping to reduce the spread of misinformation through  text-based analysis.</a:t>
            </a:r>
          </a:p>
          <a:p>
            <a:pPr algn="ctr"/>
            <a:endParaRPr lang="en-IN" sz="3600" dirty="0"/>
          </a:p>
        </p:txBody>
      </p:sp>
    </p:spTree>
    <p:extLst>
      <p:ext uri="{BB962C8B-B14F-4D97-AF65-F5344CB8AC3E}">
        <p14:creationId xmlns:p14="http://schemas.microsoft.com/office/powerpoint/2010/main" val="2462676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B0D294-E6BC-F902-6B51-4066930E606F}"/>
              </a:ext>
            </a:extLst>
          </p:cNvPr>
          <p:cNvSpPr>
            <a:spLocks noGrp="1"/>
          </p:cNvSpPr>
          <p:nvPr>
            <p:ph type="sldNum" sz="quarter" idx="12"/>
          </p:nvPr>
        </p:nvSpPr>
        <p:spPr/>
        <p:txBody>
          <a:bodyPr/>
          <a:lstStyle/>
          <a:p>
            <a:fld id="{48F63A3B-78C7-47BE-AE5E-E10140E04643}" type="slidenum">
              <a:rPr lang="en-US" smtClean="0"/>
              <a:pPr/>
              <a:t>7</a:t>
            </a:fld>
            <a:endParaRPr lang="en-US" dirty="0"/>
          </a:p>
        </p:txBody>
      </p:sp>
      <p:pic>
        <p:nvPicPr>
          <p:cNvPr id="6" name="Picture 5">
            <a:extLst>
              <a:ext uri="{FF2B5EF4-FFF2-40B4-BE49-F238E27FC236}">
                <a16:creationId xmlns:a16="http://schemas.microsoft.com/office/drawing/2014/main" id="{C0BA3715-69F4-21CD-4631-0E8C4F8770BC}"/>
              </a:ext>
            </a:extLst>
          </p:cNvPr>
          <p:cNvPicPr>
            <a:picLocks noChangeAspect="1"/>
          </p:cNvPicPr>
          <p:nvPr/>
        </p:nvPicPr>
        <p:blipFill>
          <a:blip r:embed="rId2"/>
          <a:stretch>
            <a:fillRect/>
          </a:stretch>
        </p:blipFill>
        <p:spPr>
          <a:xfrm>
            <a:off x="-143903" y="0"/>
            <a:ext cx="12335904" cy="6858000"/>
          </a:xfrm>
          <a:prstGeom prst="rect">
            <a:avLst/>
          </a:prstGeom>
        </p:spPr>
      </p:pic>
    </p:spTree>
    <p:extLst>
      <p:ext uri="{BB962C8B-B14F-4D97-AF65-F5344CB8AC3E}">
        <p14:creationId xmlns:p14="http://schemas.microsoft.com/office/powerpoint/2010/main" val="1922020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4DEF1CF-FFB0-3AA8-8ED2-8065A8F7B69D}"/>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
        <p:nvSpPr>
          <p:cNvPr id="8" name="Title 4">
            <a:extLst>
              <a:ext uri="{FF2B5EF4-FFF2-40B4-BE49-F238E27FC236}">
                <a16:creationId xmlns:a16="http://schemas.microsoft.com/office/drawing/2014/main" id="{900B89B6-C392-AF8D-F9A7-35F0B40F1D6A}"/>
              </a:ext>
            </a:extLst>
          </p:cNvPr>
          <p:cNvSpPr txBox="1">
            <a:spLocks/>
          </p:cNvSpPr>
          <p:nvPr/>
        </p:nvSpPr>
        <p:spPr>
          <a:xfrm>
            <a:off x="3456626" y="337617"/>
            <a:ext cx="9879437" cy="980844"/>
          </a:xfrm>
          <a:prstGeom prst="rect">
            <a:avLst/>
          </a:prstGeom>
        </p:spPr>
        <p:txBody>
          <a:bodyPr vert="horz" lIns="91440" tIns="0" rIns="91440" bIns="0" rtlCol="0" anchor="b"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r>
              <a:rPr lang="en-IN" sz="4400" cap="none" dirty="0">
                <a:solidFill>
                  <a:schemeClr val="tx1"/>
                </a:solidFill>
              </a:rPr>
              <a:t>Model construction</a:t>
            </a:r>
            <a:endParaRPr lang="en-US" sz="4400" cap="none" dirty="0">
              <a:solidFill>
                <a:schemeClr val="tx1"/>
              </a:solidFill>
            </a:endParaRPr>
          </a:p>
        </p:txBody>
      </p:sp>
      <p:sp>
        <p:nvSpPr>
          <p:cNvPr id="9" name="Rectangle 4">
            <a:extLst>
              <a:ext uri="{FF2B5EF4-FFF2-40B4-BE49-F238E27FC236}">
                <a16:creationId xmlns:a16="http://schemas.microsoft.com/office/drawing/2014/main" id="{9B622BC1-1E7D-FFCA-4C21-D92A98D5CA19}"/>
              </a:ext>
            </a:extLst>
          </p:cNvPr>
          <p:cNvSpPr>
            <a:spLocks noChangeArrowheads="1"/>
          </p:cNvSpPr>
          <p:nvPr/>
        </p:nvSpPr>
        <p:spPr bwMode="auto">
          <a:xfrm>
            <a:off x="2014879" y="1512026"/>
            <a:ext cx="8162241" cy="4178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Traditional Machine Learning-Based model is trained using extracted features.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Algorithms used: </a:t>
            </a:r>
          </a:p>
          <a:p>
            <a:pPr marR="0" lvl="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a:t>
            </a:r>
            <a:r>
              <a:rPr lang="en-US" altLang="en-US" sz="2400" b="1" dirty="0">
                <a:latin typeface="Arial" panose="020B0604020202020204" pitchFamily="34" charset="0"/>
              </a:rPr>
              <a:t>Naive Bays</a:t>
            </a:r>
            <a:r>
              <a:rPr kumimoji="0" lang="en-US" altLang="en-US" sz="2400" b="1" i="0" u="none" strike="noStrike" cap="none" normalizeH="0" baseline="0" dirty="0">
                <a:ln>
                  <a:noFill/>
                </a:ln>
                <a:solidFill>
                  <a:schemeClr val="tx1"/>
                </a:solidFill>
                <a:effectLst/>
                <a:latin typeface="Arial" panose="020B0604020202020204" pitchFamily="34" charset="0"/>
              </a:rPr>
              <a:t> </a:t>
            </a:r>
          </a:p>
          <a:p>
            <a:pPr marR="0" lvl="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Random Forest </a:t>
            </a:r>
          </a:p>
          <a:p>
            <a:pPr marR="0" lvl="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Decision Tree</a:t>
            </a:r>
          </a:p>
          <a:p>
            <a:pPr marR="0" lvl="0" algn="l" defTabSz="914400" rtl="0" eaLnBrk="0" fontAlgn="base" latinLnBrk="0" hangingPunct="0">
              <a:lnSpc>
                <a:spcPct val="150000"/>
              </a:lnSpc>
              <a:spcBef>
                <a:spcPct val="0"/>
              </a:spcBef>
              <a:spcAft>
                <a:spcPct val="0"/>
              </a:spcAft>
              <a:buClrTx/>
              <a:buSzTx/>
              <a:tabLst/>
            </a:pPr>
            <a:r>
              <a:rPr lang="en-US" altLang="en-US" sz="2400" b="1" dirty="0">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Logistic Regression</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2354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8B228-7261-650C-3D92-E0367CEA86AA}"/>
              </a:ext>
            </a:extLst>
          </p:cNvPr>
          <p:cNvSpPr>
            <a:spLocks noGrp="1"/>
          </p:cNvSpPr>
          <p:nvPr>
            <p:ph type="title"/>
          </p:nvPr>
        </p:nvSpPr>
        <p:spPr>
          <a:xfrm>
            <a:off x="498764" y="112557"/>
            <a:ext cx="10511627" cy="1012785"/>
          </a:xfrm>
        </p:spPr>
        <p:txBody>
          <a:bodyPr>
            <a:normAutofit/>
          </a:bodyPr>
          <a:lstStyle/>
          <a:p>
            <a:r>
              <a:rPr lang="en-IN" sz="4400" b="1" dirty="0">
                <a:solidFill>
                  <a:schemeClr val="tx1"/>
                </a:solidFill>
              </a:rPr>
              <a:t>Naive Bayes Model</a:t>
            </a:r>
          </a:p>
        </p:txBody>
      </p:sp>
      <p:sp>
        <p:nvSpPr>
          <p:cNvPr id="3" name="Content Placeholder 2">
            <a:extLst>
              <a:ext uri="{FF2B5EF4-FFF2-40B4-BE49-F238E27FC236}">
                <a16:creationId xmlns:a16="http://schemas.microsoft.com/office/drawing/2014/main" id="{B37F9B80-DC77-3058-F795-A380B122369C}"/>
              </a:ext>
            </a:extLst>
          </p:cNvPr>
          <p:cNvSpPr>
            <a:spLocks noGrp="1"/>
          </p:cNvSpPr>
          <p:nvPr>
            <p:ph sz="quarter" idx="4"/>
          </p:nvPr>
        </p:nvSpPr>
        <p:spPr>
          <a:xfrm>
            <a:off x="914399" y="1147667"/>
            <a:ext cx="10511627" cy="5425853"/>
          </a:xfrm>
        </p:spPr>
        <p:txBody>
          <a:bodyPr>
            <a:normAutofit/>
          </a:bodyPr>
          <a:lstStyle/>
          <a:p>
            <a:pPr>
              <a:buFont typeface="Wingdings" panose="05000000000000000000" pitchFamily="2" charset="2"/>
              <a:buChar char="§"/>
            </a:pPr>
            <a:r>
              <a:rPr lang="en-US" sz="2000" dirty="0">
                <a:solidFill>
                  <a:schemeClr val="tx1"/>
                </a:solidFill>
              </a:rPr>
              <a:t> </a:t>
            </a:r>
            <a:r>
              <a:rPr lang="en-US" sz="2400" dirty="0">
                <a:solidFill>
                  <a:schemeClr val="tx1"/>
                </a:solidFill>
              </a:rPr>
              <a:t>A probabilistic classifier based on </a:t>
            </a:r>
            <a:r>
              <a:rPr lang="en-US" sz="2400" b="1" dirty="0">
                <a:solidFill>
                  <a:schemeClr val="tx1"/>
                </a:solidFill>
              </a:rPr>
              <a:t>Bayes' Theorem</a:t>
            </a:r>
            <a:r>
              <a:rPr lang="en-US" sz="2400" dirty="0">
                <a:solidFill>
                  <a:schemeClr val="tx1"/>
                </a:solidFill>
              </a:rPr>
              <a:t>.</a:t>
            </a:r>
          </a:p>
          <a:p>
            <a:pPr>
              <a:buFont typeface="Wingdings" panose="05000000000000000000" pitchFamily="2" charset="2"/>
              <a:buChar char="§"/>
            </a:pPr>
            <a:r>
              <a:rPr lang="en-US" sz="2400" dirty="0">
                <a:solidFill>
                  <a:schemeClr val="tx1"/>
                </a:solidFill>
              </a:rPr>
              <a:t> Assumes that features (e.g., words, sources, clickbait) are </a:t>
            </a:r>
            <a:r>
              <a:rPr lang="en-US" sz="2400" b="1" dirty="0">
                <a:solidFill>
                  <a:schemeClr val="tx1"/>
                </a:solidFill>
              </a:rPr>
              <a:t>independent</a:t>
            </a:r>
            <a:r>
              <a:rPr lang="en-US" sz="2400" dirty="0">
                <a:solidFill>
                  <a:schemeClr val="tx1"/>
                </a:solidFill>
              </a:rPr>
              <a:t> given the class label.</a:t>
            </a:r>
          </a:p>
          <a:p>
            <a:pPr>
              <a:buFont typeface="Wingdings" panose="05000000000000000000" pitchFamily="2" charset="2"/>
              <a:buChar char="§"/>
            </a:pPr>
            <a:r>
              <a:rPr lang="en-US" sz="2400" dirty="0">
                <a:solidFill>
                  <a:schemeClr val="tx1"/>
                </a:solidFill>
              </a:rPr>
              <a:t> Works well for text classification tasks like Fake News Detection.</a:t>
            </a:r>
          </a:p>
          <a:p>
            <a:pPr>
              <a:buFont typeface="Wingdings" panose="05000000000000000000" pitchFamily="2" charset="2"/>
              <a:buChar char="§"/>
            </a:pPr>
            <a:r>
              <a:rPr lang="en-US" sz="2400" b="1" dirty="0">
                <a:solidFill>
                  <a:schemeClr val="tx1"/>
                </a:solidFill>
              </a:rPr>
              <a:t>Prediction Interpretation:</a:t>
            </a:r>
          </a:p>
          <a:p>
            <a:pPr marL="0" indent="0">
              <a:buNone/>
            </a:pPr>
            <a:r>
              <a:rPr lang="en-US" sz="2400" dirty="0">
                <a:solidFill>
                  <a:schemeClr val="tx1"/>
                </a:solidFill>
              </a:rPr>
              <a:t>        Computes </a:t>
            </a:r>
            <a:r>
              <a:rPr lang="en-US" sz="2400" b="1" dirty="0">
                <a:solidFill>
                  <a:schemeClr val="tx1"/>
                </a:solidFill>
              </a:rPr>
              <a:t>P(Fake | Features)</a:t>
            </a:r>
            <a:r>
              <a:rPr lang="en-US" sz="2400" dirty="0">
                <a:solidFill>
                  <a:schemeClr val="tx1"/>
                </a:solidFill>
              </a:rPr>
              <a:t> and </a:t>
            </a:r>
            <a:r>
              <a:rPr lang="en-US" sz="2400" b="1" dirty="0">
                <a:solidFill>
                  <a:schemeClr val="tx1"/>
                </a:solidFill>
              </a:rPr>
              <a:t>P(Real | Features)</a:t>
            </a:r>
            <a:r>
              <a:rPr lang="en-US" sz="2400" dirty="0">
                <a:solidFill>
                  <a:schemeClr val="tx1"/>
                </a:solidFill>
              </a:rPr>
              <a:t> using</a:t>
            </a:r>
          </a:p>
          <a:p>
            <a:pPr marL="0" indent="0">
              <a:buNone/>
            </a:pPr>
            <a:r>
              <a:rPr lang="en-US" sz="2400" dirty="0">
                <a:solidFill>
                  <a:schemeClr val="tx1"/>
                </a:solidFill>
              </a:rPr>
              <a:t>        conditional probabilities.		</a:t>
            </a:r>
          </a:p>
          <a:p>
            <a:pPr marL="0" indent="0">
              <a:buNone/>
            </a:pPr>
            <a:r>
              <a:rPr lang="en-US" sz="2400" dirty="0">
                <a:solidFill>
                  <a:schemeClr val="tx1"/>
                </a:solidFill>
              </a:rPr>
              <a:t>        Chooses the label with the highest probability.</a:t>
            </a:r>
          </a:p>
          <a:p>
            <a:pPr>
              <a:buFont typeface="Wingdings" panose="05000000000000000000" pitchFamily="2" charset="2"/>
              <a:buChar char="§"/>
            </a:pPr>
            <a:r>
              <a:rPr lang="en-US" sz="2400" b="1" dirty="0">
                <a:solidFill>
                  <a:schemeClr val="tx1"/>
                </a:solidFill>
              </a:rPr>
              <a:t>Mathematical Formula (Bayes' Theorem):</a:t>
            </a:r>
          </a:p>
          <a:p>
            <a:endParaRPr lang="en-IN" dirty="0"/>
          </a:p>
        </p:txBody>
      </p:sp>
      <p:sp>
        <p:nvSpPr>
          <p:cNvPr id="4" name="Slide Number Placeholder 3">
            <a:extLst>
              <a:ext uri="{FF2B5EF4-FFF2-40B4-BE49-F238E27FC236}">
                <a16:creationId xmlns:a16="http://schemas.microsoft.com/office/drawing/2014/main" id="{386D6173-6C85-B7DC-EF13-760636B605FC}"/>
              </a:ext>
            </a:extLst>
          </p:cNvPr>
          <p:cNvSpPr>
            <a:spLocks noGrp="1"/>
          </p:cNvSpPr>
          <p:nvPr>
            <p:ph type="sldNum" sz="quarter" idx="10"/>
          </p:nvPr>
        </p:nvSpPr>
        <p:spPr/>
        <p:txBody>
          <a:bodyPr/>
          <a:lstStyle/>
          <a:p>
            <a:fld id="{48F63A3B-78C7-47BE-AE5E-E10140E04643}" type="slidenum">
              <a:rPr lang="en-US" smtClean="0"/>
              <a:pPr/>
              <a:t>9</a:t>
            </a:fld>
            <a:endParaRPr lang="en-US" dirty="0"/>
          </a:p>
        </p:txBody>
      </p:sp>
      <p:pic>
        <p:nvPicPr>
          <p:cNvPr id="6" name="Picture 5">
            <a:extLst>
              <a:ext uri="{FF2B5EF4-FFF2-40B4-BE49-F238E27FC236}">
                <a16:creationId xmlns:a16="http://schemas.microsoft.com/office/drawing/2014/main" id="{4C0D3739-8DC4-CE69-1A3D-AE591BDDE700}"/>
              </a:ext>
            </a:extLst>
          </p:cNvPr>
          <p:cNvPicPr>
            <a:picLocks noChangeAspect="1"/>
          </p:cNvPicPr>
          <p:nvPr/>
        </p:nvPicPr>
        <p:blipFill>
          <a:blip r:embed="rId2"/>
          <a:stretch>
            <a:fillRect/>
          </a:stretch>
        </p:blipFill>
        <p:spPr>
          <a:xfrm>
            <a:off x="6412020" y="5604577"/>
            <a:ext cx="5324764" cy="968943"/>
          </a:xfrm>
          <a:prstGeom prst="rect">
            <a:avLst/>
          </a:prstGeom>
        </p:spPr>
      </p:pic>
    </p:spTree>
    <p:extLst>
      <p:ext uri="{BB962C8B-B14F-4D97-AF65-F5344CB8AC3E}">
        <p14:creationId xmlns:p14="http://schemas.microsoft.com/office/powerpoint/2010/main" val="2586082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38075-E97D-8843-C570-3B7B71A8D79E}"/>
              </a:ext>
            </a:extLst>
          </p:cNvPr>
          <p:cNvSpPr>
            <a:spLocks noGrp="1"/>
          </p:cNvSpPr>
          <p:nvPr>
            <p:ph type="title"/>
          </p:nvPr>
        </p:nvSpPr>
        <p:spPr>
          <a:xfrm>
            <a:off x="4152900" y="-86842"/>
            <a:ext cx="3733800" cy="1281113"/>
          </a:xfrm>
        </p:spPr>
        <p:txBody>
          <a:bodyPr>
            <a:normAutofit/>
          </a:bodyPr>
          <a:lstStyle/>
          <a:p>
            <a:r>
              <a:rPr lang="en-IN" b="1" dirty="0"/>
              <a:t>Decision Tree</a:t>
            </a:r>
          </a:p>
        </p:txBody>
      </p:sp>
      <p:sp>
        <p:nvSpPr>
          <p:cNvPr id="3" name="Content Placeholder 2">
            <a:extLst>
              <a:ext uri="{FF2B5EF4-FFF2-40B4-BE49-F238E27FC236}">
                <a16:creationId xmlns:a16="http://schemas.microsoft.com/office/drawing/2014/main" id="{63977055-E449-BEC8-381C-30551EEA35A3}"/>
              </a:ext>
            </a:extLst>
          </p:cNvPr>
          <p:cNvSpPr>
            <a:spLocks noGrp="1"/>
          </p:cNvSpPr>
          <p:nvPr>
            <p:ph sz="half" idx="1"/>
          </p:nvPr>
        </p:nvSpPr>
        <p:spPr>
          <a:xfrm>
            <a:off x="1156021" y="1033631"/>
            <a:ext cx="9879957" cy="5903089"/>
          </a:xfrm>
        </p:spPr>
        <p:txBody>
          <a:bodyPr>
            <a:normAutofit fontScale="92500" lnSpcReduction="10000"/>
          </a:bodyPr>
          <a:lstStyle/>
          <a:p>
            <a:pPr>
              <a:lnSpc>
                <a:spcPct val="120000"/>
              </a:lnSpc>
              <a:buFont typeface="Wingdings" panose="05000000000000000000" pitchFamily="2" charset="2"/>
              <a:buChar char="§"/>
            </a:pPr>
            <a:r>
              <a:rPr lang="en-US" sz="2600" dirty="0"/>
              <a:t> A </a:t>
            </a:r>
            <a:r>
              <a:rPr lang="en-US" sz="2600" b="1" dirty="0"/>
              <a:t>tree-based</a:t>
            </a:r>
            <a:r>
              <a:rPr lang="en-US" sz="2600" dirty="0"/>
              <a:t> model that makes decisions based on feature-based rules.</a:t>
            </a:r>
          </a:p>
          <a:p>
            <a:pPr>
              <a:lnSpc>
                <a:spcPct val="120000"/>
              </a:lnSpc>
              <a:buFont typeface="Wingdings" panose="05000000000000000000" pitchFamily="2" charset="2"/>
              <a:buChar char="§"/>
            </a:pPr>
            <a:r>
              <a:rPr lang="en-US" sz="2600" dirty="0"/>
              <a:t>Splits data into </a:t>
            </a:r>
            <a:r>
              <a:rPr lang="en-US" sz="2600" b="1" dirty="0"/>
              <a:t>branches</a:t>
            </a:r>
            <a:r>
              <a:rPr lang="en-US" sz="2600" dirty="0"/>
              <a:t> based on key features like </a:t>
            </a:r>
            <a:r>
              <a:rPr lang="en-US" sz="2600" b="1" dirty="0"/>
              <a:t>headline words, source reliability, and content sentiment</a:t>
            </a:r>
            <a:r>
              <a:rPr lang="en-US" sz="2600" dirty="0"/>
              <a:t>.</a:t>
            </a:r>
          </a:p>
          <a:p>
            <a:pPr>
              <a:lnSpc>
                <a:spcPct val="120000"/>
              </a:lnSpc>
              <a:buFont typeface="Wingdings" panose="05000000000000000000" pitchFamily="2" charset="2"/>
              <a:buChar char="§"/>
            </a:pPr>
            <a:r>
              <a:rPr lang="en-US" sz="2600" b="1" dirty="0"/>
              <a:t>Leaf nodes</a:t>
            </a:r>
            <a:r>
              <a:rPr lang="en-US" sz="2600" dirty="0"/>
              <a:t> provide final classification (Fake or Real).</a:t>
            </a:r>
          </a:p>
          <a:p>
            <a:pPr>
              <a:lnSpc>
                <a:spcPct val="120000"/>
              </a:lnSpc>
              <a:buFont typeface="Wingdings" panose="05000000000000000000" pitchFamily="2" charset="2"/>
              <a:buChar char="§"/>
            </a:pPr>
            <a:r>
              <a:rPr lang="en-US" sz="2600" b="1" dirty="0"/>
              <a:t>Prediction Interpretation:</a:t>
            </a:r>
          </a:p>
          <a:p>
            <a:pPr>
              <a:lnSpc>
                <a:spcPct val="120000"/>
              </a:lnSpc>
              <a:buFont typeface="Wingdings" panose="05000000000000000000" pitchFamily="2" charset="2"/>
              <a:buChar char="§"/>
            </a:pPr>
            <a:r>
              <a:rPr lang="en-US" sz="2600" dirty="0"/>
              <a:t>Follows </a:t>
            </a:r>
            <a:r>
              <a:rPr lang="en-US" sz="2600" b="1" dirty="0"/>
              <a:t>Yes/No</a:t>
            </a:r>
            <a:r>
              <a:rPr lang="en-US" sz="2600" dirty="0"/>
              <a:t> questions to classify news as </a:t>
            </a:r>
            <a:r>
              <a:rPr lang="en-US" sz="2600" b="1" dirty="0"/>
              <a:t>Fake (0) or Real (1)</a:t>
            </a:r>
            <a:r>
              <a:rPr lang="en-US" sz="2600" dirty="0"/>
              <a:t>.</a:t>
            </a:r>
          </a:p>
          <a:p>
            <a:pPr>
              <a:lnSpc>
                <a:spcPct val="120000"/>
              </a:lnSpc>
              <a:buFont typeface="Wingdings" panose="05000000000000000000" pitchFamily="2" charset="2"/>
              <a:buChar char="§"/>
            </a:pPr>
            <a:r>
              <a:rPr lang="en-US" sz="2600" dirty="0"/>
              <a:t>Example: </a:t>
            </a:r>
          </a:p>
          <a:p>
            <a:pPr lvl="1">
              <a:lnSpc>
                <a:spcPct val="120000"/>
              </a:lnSpc>
              <a:buFont typeface="Wingdings" panose="05000000000000000000" pitchFamily="2" charset="2"/>
              <a:buChar char="§"/>
            </a:pPr>
            <a:r>
              <a:rPr lang="en-US" sz="2600" dirty="0"/>
              <a:t>Does the headline contain </a:t>
            </a:r>
            <a:r>
              <a:rPr lang="en-US" sz="2600" b="1" dirty="0"/>
              <a:t>clickbait words</a:t>
            </a:r>
            <a:r>
              <a:rPr lang="en-US" sz="2600" dirty="0"/>
              <a:t>? (Yes → Fake, No → Next check)</a:t>
            </a:r>
          </a:p>
          <a:p>
            <a:pPr lvl="1">
              <a:lnSpc>
                <a:spcPct val="120000"/>
              </a:lnSpc>
              <a:buFont typeface="Wingdings" panose="05000000000000000000" pitchFamily="2" charset="2"/>
              <a:buChar char="§"/>
            </a:pPr>
            <a:r>
              <a:rPr lang="en-US" sz="2600" dirty="0"/>
              <a:t>Is the source credible? (Yes → Real, No → Fake)</a:t>
            </a:r>
          </a:p>
          <a:p>
            <a:pPr marL="0" indent="0">
              <a:lnSpc>
                <a:spcPct val="120000"/>
              </a:lnSpc>
              <a:buNone/>
            </a:pPr>
            <a:endParaRPr lang="en-US" sz="2600" b="1" dirty="0"/>
          </a:p>
          <a:p>
            <a:pPr marL="0" indent="0">
              <a:lnSpc>
                <a:spcPct val="120000"/>
              </a:lnSpc>
              <a:buNone/>
            </a:pPr>
            <a:endParaRPr lang="en-US" sz="2600" b="1" dirty="0"/>
          </a:p>
          <a:p>
            <a:pPr marL="0" indent="0">
              <a:buNone/>
            </a:pPr>
            <a:endParaRPr lang="en-IN" dirty="0"/>
          </a:p>
        </p:txBody>
      </p:sp>
    </p:spTree>
    <p:extLst>
      <p:ext uri="{BB962C8B-B14F-4D97-AF65-F5344CB8AC3E}">
        <p14:creationId xmlns:p14="http://schemas.microsoft.com/office/powerpoint/2010/main" val="3592307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9166E-F8ED-0C89-8ECC-186167CFD630}"/>
              </a:ext>
            </a:extLst>
          </p:cNvPr>
          <p:cNvSpPr>
            <a:spLocks noGrp="1"/>
          </p:cNvSpPr>
          <p:nvPr>
            <p:ph type="title"/>
          </p:nvPr>
        </p:nvSpPr>
        <p:spPr>
          <a:xfrm>
            <a:off x="3799099" y="202521"/>
            <a:ext cx="9879437" cy="980844"/>
          </a:xfrm>
        </p:spPr>
        <p:txBody>
          <a:bodyPr>
            <a:normAutofit/>
          </a:bodyPr>
          <a:lstStyle/>
          <a:p>
            <a:r>
              <a:rPr lang="en-IN" sz="4400" b="1" dirty="0">
                <a:solidFill>
                  <a:schemeClr val="tx1"/>
                </a:solidFill>
              </a:rPr>
              <a:t>Random Forest</a:t>
            </a:r>
          </a:p>
        </p:txBody>
      </p:sp>
      <p:sp>
        <p:nvSpPr>
          <p:cNvPr id="4" name="Content Placeholder 3">
            <a:extLst>
              <a:ext uri="{FF2B5EF4-FFF2-40B4-BE49-F238E27FC236}">
                <a16:creationId xmlns:a16="http://schemas.microsoft.com/office/drawing/2014/main" id="{34373490-C37C-425A-A3FA-6275595F81E5}"/>
              </a:ext>
            </a:extLst>
          </p:cNvPr>
          <p:cNvSpPr>
            <a:spLocks noGrp="1"/>
          </p:cNvSpPr>
          <p:nvPr>
            <p:ph sz="half" idx="1"/>
          </p:nvPr>
        </p:nvSpPr>
        <p:spPr>
          <a:xfrm>
            <a:off x="381966" y="1088020"/>
            <a:ext cx="11343188" cy="5567459"/>
          </a:xfrm>
        </p:spPr>
        <p:txBody>
          <a:bodyPr>
            <a:normAutofit fontScale="92500" lnSpcReduction="10000"/>
          </a:bodyPr>
          <a:lstStyle/>
          <a:p>
            <a:pPr>
              <a:buFont typeface="Wingdings" panose="05000000000000000000" pitchFamily="2" charset="2"/>
              <a:buChar char="§"/>
            </a:pPr>
            <a:r>
              <a:rPr lang="en-US" sz="2200" dirty="0"/>
              <a:t>A supervised learning algorithm used for classification &amp; regression.</a:t>
            </a:r>
          </a:p>
          <a:p>
            <a:pPr>
              <a:buFont typeface="Wingdings" panose="05000000000000000000" pitchFamily="2" charset="2"/>
              <a:buChar char="§"/>
            </a:pPr>
            <a:r>
              <a:rPr lang="en-US" sz="2200" dirty="0"/>
              <a:t>It is an </a:t>
            </a:r>
            <a:r>
              <a:rPr lang="en-US" sz="2200" b="1" dirty="0"/>
              <a:t>ensemble method</a:t>
            </a:r>
            <a:r>
              <a:rPr lang="en-US" sz="2200" dirty="0"/>
              <a:t> that combines multiple </a:t>
            </a:r>
            <a:r>
              <a:rPr lang="en-US" sz="2200" b="1" dirty="0"/>
              <a:t>Decision Trees</a:t>
            </a:r>
            <a:r>
              <a:rPr lang="en-US" sz="2200" dirty="0"/>
              <a:t> to improve accuracy.</a:t>
            </a:r>
          </a:p>
          <a:p>
            <a:pPr>
              <a:buFont typeface="Wingdings" panose="05000000000000000000" pitchFamily="2" charset="2"/>
              <a:buChar char="§"/>
            </a:pPr>
            <a:r>
              <a:rPr lang="en-US" sz="2200" dirty="0"/>
              <a:t>Works by </a:t>
            </a:r>
            <a:r>
              <a:rPr lang="en-US" sz="2200" b="1" dirty="0"/>
              <a:t>majority voting</a:t>
            </a:r>
            <a:r>
              <a:rPr lang="en-US" sz="2200" dirty="0"/>
              <a:t> in classification tasks (like Fake news prediction).</a:t>
            </a:r>
          </a:p>
          <a:p>
            <a:pPr>
              <a:buFont typeface="Wingdings" panose="05000000000000000000" pitchFamily="2" charset="2"/>
              <a:buChar char="§"/>
            </a:pPr>
            <a:r>
              <a:rPr lang="en-IN" sz="2200" dirty="0"/>
              <a:t>Step-by-Step Process:</a:t>
            </a:r>
            <a:br>
              <a:rPr lang="en-US" sz="2200" dirty="0"/>
            </a:br>
            <a:r>
              <a:rPr lang="en-US" sz="2200" dirty="0"/>
              <a:t> </a:t>
            </a:r>
            <a:r>
              <a:rPr lang="en-US" sz="2200" b="1" dirty="0"/>
              <a:t>Creates multiple Decision Trees</a:t>
            </a:r>
            <a:r>
              <a:rPr lang="en-US" sz="2200" dirty="0"/>
              <a:t> from random subsets of the dataset.</a:t>
            </a:r>
            <a:br>
              <a:rPr lang="en-US" sz="2200" dirty="0"/>
            </a:br>
            <a:r>
              <a:rPr lang="en-US" sz="2200" dirty="0"/>
              <a:t> Each tree makes a prediction </a:t>
            </a:r>
            <a:br>
              <a:rPr lang="en-US" sz="2200" dirty="0"/>
            </a:br>
            <a:r>
              <a:rPr lang="en-US" sz="2200" dirty="0"/>
              <a:t>        (Fake news : </a:t>
            </a:r>
            <a:r>
              <a:rPr lang="en-US" sz="2200" b="1" dirty="0"/>
              <a:t>Yes (0) or No (1)</a:t>
            </a:r>
            <a:r>
              <a:rPr lang="en-US" sz="2200" dirty="0"/>
              <a:t>).</a:t>
            </a:r>
            <a:br>
              <a:rPr lang="en-IN" sz="2200" dirty="0"/>
            </a:br>
            <a:r>
              <a:rPr lang="en-US" sz="2200" dirty="0"/>
              <a:t> </a:t>
            </a:r>
            <a:r>
              <a:rPr lang="en-US" sz="2200" b="1" dirty="0"/>
              <a:t>Final Prediction = Majority Voting</a:t>
            </a:r>
            <a:r>
              <a:rPr lang="en-US" sz="2200" dirty="0"/>
              <a:t> </a:t>
            </a:r>
            <a:br>
              <a:rPr lang="en-US" sz="2200" dirty="0"/>
            </a:br>
            <a:r>
              <a:rPr lang="en-US" sz="2200" dirty="0"/>
              <a:t>        (most common result among all trees).</a:t>
            </a:r>
          </a:p>
          <a:p>
            <a:pPr>
              <a:buFont typeface="Wingdings" panose="05000000000000000000" pitchFamily="2" charset="2"/>
              <a:buChar char="§"/>
            </a:pPr>
            <a:r>
              <a:rPr lang="en-US" sz="2200" dirty="0"/>
              <a:t>Example :- </a:t>
            </a:r>
            <a:br>
              <a:rPr lang="en-US" sz="2200" dirty="0"/>
            </a:br>
            <a:r>
              <a:rPr lang="en-US" sz="2200" b="1" dirty="0"/>
              <a:t>Tree 1 predicts:</a:t>
            </a:r>
            <a:r>
              <a:rPr lang="en-US" sz="2200" dirty="0"/>
              <a:t> Not Fake news (1)</a:t>
            </a:r>
            <a:br>
              <a:rPr lang="en-US" sz="2200" dirty="0"/>
            </a:br>
            <a:r>
              <a:rPr lang="en-US" sz="2200" b="1" dirty="0"/>
              <a:t>Tree 2 predicts:</a:t>
            </a:r>
            <a:r>
              <a:rPr lang="en-US" sz="2200" dirty="0"/>
              <a:t> Fake news (0)</a:t>
            </a:r>
            <a:br>
              <a:rPr lang="en-US" sz="2200" dirty="0"/>
            </a:br>
            <a:r>
              <a:rPr lang="en-US" sz="2200" b="1" dirty="0"/>
              <a:t>Tree 3 predicts:</a:t>
            </a:r>
            <a:r>
              <a:rPr lang="en-US" sz="2200" dirty="0"/>
              <a:t> Fake news (0)</a:t>
            </a:r>
            <a:br>
              <a:rPr lang="en-US" sz="2200" dirty="0"/>
            </a:br>
            <a:r>
              <a:rPr lang="en-US" sz="2200" b="1" dirty="0"/>
              <a:t>Final Prediction:</a:t>
            </a:r>
            <a:r>
              <a:rPr lang="en-US" sz="2200" dirty="0"/>
              <a:t> Fake news (0) (Majority Vote)</a:t>
            </a:r>
          </a:p>
          <a:p>
            <a:pPr>
              <a:buFont typeface="Wingdings" panose="05000000000000000000" pitchFamily="2" charset="2"/>
              <a:buChar char="§"/>
            </a:pPr>
            <a:r>
              <a:rPr lang="en-US" sz="2200" dirty="0"/>
              <a:t>This reduces the risk of </a:t>
            </a:r>
            <a:r>
              <a:rPr lang="en-US" sz="2200" b="1" dirty="0"/>
              <a:t>overfitting</a:t>
            </a:r>
            <a:r>
              <a:rPr lang="en-US" sz="2200" dirty="0"/>
              <a:t> seen in a </a:t>
            </a:r>
            <a:br>
              <a:rPr lang="en-US" sz="2200" dirty="0"/>
            </a:br>
            <a:r>
              <a:rPr lang="en-US" sz="2200" dirty="0"/>
              <a:t>single Decision Tree!</a:t>
            </a:r>
          </a:p>
          <a:p>
            <a:endParaRPr lang="en-IN" sz="2000" dirty="0"/>
          </a:p>
        </p:txBody>
      </p:sp>
      <p:sp>
        <p:nvSpPr>
          <p:cNvPr id="5" name="Slide Number Placeholder 4">
            <a:extLst>
              <a:ext uri="{FF2B5EF4-FFF2-40B4-BE49-F238E27FC236}">
                <a16:creationId xmlns:a16="http://schemas.microsoft.com/office/drawing/2014/main" id="{D0EFC916-CFC1-F9CC-5BC2-BA0F0D6B8A8B}"/>
              </a:ext>
            </a:extLst>
          </p:cNvPr>
          <p:cNvSpPr>
            <a:spLocks noGrp="1"/>
          </p:cNvSpPr>
          <p:nvPr>
            <p:ph type="sldNum" sz="quarter" idx="10"/>
          </p:nvPr>
        </p:nvSpPr>
        <p:spPr/>
        <p:txBody>
          <a:bodyPr/>
          <a:lstStyle/>
          <a:p>
            <a:fld id="{48F63A3B-78C7-47BE-AE5E-E10140E04643}" type="slidenum">
              <a:rPr lang="en-US" smtClean="0"/>
              <a:pPr/>
              <a:t>11</a:t>
            </a:fld>
            <a:endParaRPr lang="en-US" dirty="0"/>
          </a:p>
        </p:txBody>
      </p:sp>
      <p:pic>
        <p:nvPicPr>
          <p:cNvPr id="6" name="Picture 5">
            <a:extLst>
              <a:ext uri="{FF2B5EF4-FFF2-40B4-BE49-F238E27FC236}">
                <a16:creationId xmlns:a16="http://schemas.microsoft.com/office/drawing/2014/main" id="{8AB33F99-387E-5E28-51DB-3F4224051C60}"/>
              </a:ext>
            </a:extLst>
          </p:cNvPr>
          <p:cNvPicPr>
            <a:picLocks noChangeAspect="1"/>
          </p:cNvPicPr>
          <p:nvPr/>
        </p:nvPicPr>
        <p:blipFill>
          <a:blip r:embed="rId2">
            <a:extLst>
              <a:ext uri="{28A0092B-C50C-407E-A947-70E740481C1C}">
                <a14:useLocalDpi xmlns:a14="http://schemas.microsoft.com/office/drawing/2010/main" val="0"/>
              </a:ext>
            </a:extLst>
          </a:blip>
          <a:srcRect l="13761" t="25761" r="12660"/>
          <a:stretch/>
        </p:blipFill>
        <p:spPr>
          <a:xfrm>
            <a:off x="6568907" y="3064509"/>
            <a:ext cx="4982628" cy="3590970"/>
          </a:xfrm>
          <a:prstGeom prst="rect">
            <a:avLst/>
          </a:prstGeom>
        </p:spPr>
      </p:pic>
    </p:spTree>
    <p:extLst>
      <p:ext uri="{BB962C8B-B14F-4D97-AF65-F5344CB8AC3E}">
        <p14:creationId xmlns:p14="http://schemas.microsoft.com/office/powerpoint/2010/main" val="1986438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3295F-8895-5F33-E2FD-9B483AA3ED21}"/>
              </a:ext>
            </a:extLst>
          </p:cNvPr>
          <p:cNvSpPr>
            <a:spLocks noGrp="1"/>
          </p:cNvSpPr>
          <p:nvPr>
            <p:ph type="title"/>
          </p:nvPr>
        </p:nvSpPr>
        <p:spPr>
          <a:xfrm>
            <a:off x="1056788" y="272000"/>
            <a:ext cx="9875463" cy="999746"/>
          </a:xfrm>
        </p:spPr>
        <p:txBody>
          <a:bodyPr/>
          <a:lstStyle/>
          <a:p>
            <a:r>
              <a:rPr lang="en-US" dirty="0"/>
              <a:t>                           </a:t>
            </a:r>
            <a:r>
              <a:rPr lang="en-US" sz="4000" dirty="0"/>
              <a:t>Logistic Regression</a:t>
            </a:r>
            <a:endParaRPr lang="en-IN" sz="4000" dirty="0"/>
          </a:p>
        </p:txBody>
      </p:sp>
      <p:sp>
        <p:nvSpPr>
          <p:cNvPr id="3" name="Content Placeholder 2">
            <a:extLst>
              <a:ext uri="{FF2B5EF4-FFF2-40B4-BE49-F238E27FC236}">
                <a16:creationId xmlns:a16="http://schemas.microsoft.com/office/drawing/2014/main" id="{D5CA4A43-5A64-B371-0B2E-79267995073D}"/>
              </a:ext>
            </a:extLst>
          </p:cNvPr>
          <p:cNvSpPr>
            <a:spLocks noGrp="1"/>
          </p:cNvSpPr>
          <p:nvPr>
            <p:ph sz="half" idx="2"/>
          </p:nvPr>
        </p:nvSpPr>
        <p:spPr>
          <a:xfrm>
            <a:off x="1056788" y="1364724"/>
            <a:ext cx="8979784" cy="3982772"/>
          </a:xfrm>
        </p:spPr>
        <p:txBody>
          <a:bodyPr>
            <a:normAutofit fontScale="55000" lnSpcReduction="20000"/>
          </a:bodyPr>
          <a:lstStyle/>
          <a:p>
            <a:pPr marL="342900" indent="-342900">
              <a:lnSpc>
                <a:spcPct val="120000"/>
              </a:lnSpc>
              <a:buFont typeface="Wingdings" panose="05000000000000000000" pitchFamily="2" charset="2"/>
              <a:buChar char="q"/>
            </a:pPr>
            <a:r>
              <a:rPr lang="en-US" sz="3600" dirty="0">
                <a:solidFill>
                  <a:schemeClr val="tx1"/>
                </a:solidFill>
              </a:rPr>
              <a:t>A supervised learning algorithm used for classification problems.</a:t>
            </a:r>
          </a:p>
          <a:p>
            <a:pPr marL="342900" indent="-342900">
              <a:lnSpc>
                <a:spcPct val="120000"/>
              </a:lnSpc>
              <a:buFont typeface="Wingdings" panose="05000000000000000000" pitchFamily="2" charset="2"/>
              <a:buChar char="q"/>
            </a:pPr>
            <a:r>
              <a:rPr lang="en-US" sz="3600" dirty="0">
                <a:solidFill>
                  <a:schemeClr val="tx1"/>
                </a:solidFill>
              </a:rPr>
              <a:t>Predicts the probability of an event occurring (e.g., Fake News: </a:t>
            </a:r>
            <a:r>
              <a:rPr lang="en-US" sz="3600" b="1" dirty="0">
                <a:solidFill>
                  <a:schemeClr val="tx1"/>
                </a:solidFill>
              </a:rPr>
              <a:t>Yes (0) / No (1)</a:t>
            </a:r>
            <a:r>
              <a:rPr lang="en-US" sz="3600" dirty="0">
                <a:solidFill>
                  <a:schemeClr val="tx1"/>
                </a:solidFill>
              </a:rPr>
              <a:t>).</a:t>
            </a:r>
          </a:p>
          <a:p>
            <a:pPr marL="342900" indent="-342900">
              <a:lnSpc>
                <a:spcPct val="120000"/>
              </a:lnSpc>
              <a:buFont typeface="Wingdings" panose="05000000000000000000" pitchFamily="2" charset="2"/>
              <a:buChar char="q"/>
            </a:pPr>
            <a:r>
              <a:rPr lang="en-US" sz="3600" dirty="0">
                <a:solidFill>
                  <a:schemeClr val="tx1"/>
                </a:solidFill>
              </a:rPr>
              <a:t>Uses the </a:t>
            </a:r>
            <a:r>
              <a:rPr lang="en-US" sz="3600" b="1" dirty="0">
                <a:solidFill>
                  <a:schemeClr val="tx1"/>
                </a:solidFill>
              </a:rPr>
              <a:t>Sigmoid function</a:t>
            </a:r>
            <a:r>
              <a:rPr lang="en-US" sz="3600" dirty="0">
                <a:solidFill>
                  <a:schemeClr val="tx1"/>
                </a:solidFill>
              </a:rPr>
              <a:t> to convert predictions into a probability between </a:t>
            </a:r>
            <a:r>
              <a:rPr lang="en-US" sz="3600" b="1" dirty="0">
                <a:solidFill>
                  <a:schemeClr val="tx1"/>
                </a:solidFill>
              </a:rPr>
              <a:t>0 and 1</a:t>
            </a:r>
            <a:r>
              <a:rPr lang="en-US" sz="3600" dirty="0">
                <a:solidFill>
                  <a:schemeClr val="tx1"/>
                </a:solidFill>
              </a:rPr>
              <a:t>.</a:t>
            </a:r>
          </a:p>
          <a:p>
            <a:pPr marL="342900" indent="-342900">
              <a:lnSpc>
                <a:spcPct val="120000"/>
              </a:lnSpc>
              <a:buFont typeface="Wingdings" panose="05000000000000000000" pitchFamily="2" charset="2"/>
              <a:buChar char="q"/>
            </a:pPr>
            <a:r>
              <a:rPr lang="en-IN" sz="3600" dirty="0">
                <a:solidFill>
                  <a:schemeClr val="tx1"/>
                </a:solidFill>
              </a:rPr>
              <a:t>Prediction Interpretation:</a:t>
            </a:r>
            <a:br>
              <a:rPr lang="en-IN" sz="3600" dirty="0">
                <a:solidFill>
                  <a:schemeClr val="tx1"/>
                </a:solidFill>
              </a:rPr>
            </a:br>
            <a:r>
              <a:rPr lang="en-US" sz="3600" dirty="0">
                <a:solidFill>
                  <a:schemeClr val="tx1"/>
                </a:solidFill>
              </a:rPr>
              <a:t>If </a:t>
            </a:r>
            <a:r>
              <a:rPr lang="en-US" sz="3600" b="1" dirty="0">
                <a:solidFill>
                  <a:schemeClr val="tx1"/>
                </a:solidFill>
              </a:rPr>
              <a:t>P ≥ 0.5</a:t>
            </a:r>
            <a:r>
              <a:rPr lang="en-US" sz="3600" dirty="0">
                <a:solidFill>
                  <a:schemeClr val="tx1"/>
                </a:solidFill>
              </a:rPr>
              <a:t> → Predicts </a:t>
            </a:r>
            <a:r>
              <a:rPr lang="en-US" sz="3600" b="1" dirty="0">
                <a:solidFill>
                  <a:schemeClr val="tx1"/>
                </a:solidFill>
              </a:rPr>
              <a:t>Fake News (0)</a:t>
            </a:r>
            <a:r>
              <a:rPr lang="en-US" sz="3600" dirty="0">
                <a:solidFill>
                  <a:schemeClr val="tx1"/>
                </a:solidFill>
              </a:rPr>
              <a:t>.</a:t>
            </a:r>
            <a:br>
              <a:rPr lang="en-IN" sz="3600" dirty="0">
                <a:solidFill>
                  <a:schemeClr val="tx1"/>
                </a:solidFill>
              </a:rPr>
            </a:br>
            <a:r>
              <a:rPr lang="en-US" sz="3600" dirty="0">
                <a:solidFill>
                  <a:schemeClr val="tx1"/>
                </a:solidFill>
              </a:rPr>
              <a:t>If </a:t>
            </a:r>
            <a:r>
              <a:rPr lang="en-US" sz="3600" b="1" dirty="0">
                <a:solidFill>
                  <a:schemeClr val="tx1"/>
                </a:solidFill>
              </a:rPr>
              <a:t>P &lt; 0.5</a:t>
            </a:r>
            <a:r>
              <a:rPr lang="en-US" sz="3600" dirty="0">
                <a:solidFill>
                  <a:schemeClr val="tx1"/>
                </a:solidFill>
              </a:rPr>
              <a:t> → Predicts </a:t>
            </a:r>
            <a:r>
              <a:rPr lang="en-US" sz="3600" b="1" dirty="0">
                <a:solidFill>
                  <a:schemeClr val="tx1"/>
                </a:solidFill>
              </a:rPr>
              <a:t>Not Fake News (1)</a:t>
            </a:r>
            <a:r>
              <a:rPr lang="en-US" sz="3600" dirty="0">
                <a:solidFill>
                  <a:schemeClr val="tx1"/>
                </a:solidFill>
              </a:rPr>
              <a:t>.</a:t>
            </a:r>
          </a:p>
          <a:p>
            <a:pPr marL="342900" indent="-342900">
              <a:lnSpc>
                <a:spcPct val="120000"/>
              </a:lnSpc>
              <a:buFont typeface="Wingdings" panose="05000000000000000000" pitchFamily="2" charset="2"/>
              <a:buChar char="q"/>
            </a:pPr>
            <a:r>
              <a:rPr lang="en-US" sz="3600" dirty="0">
                <a:solidFill>
                  <a:schemeClr val="tx1"/>
                </a:solidFill>
              </a:rPr>
              <a:t>Mathematical Formula : </a:t>
            </a:r>
          </a:p>
          <a:p>
            <a:endParaRPr lang="en-IN" sz="2000" dirty="0">
              <a:solidFill>
                <a:schemeClr val="tx1"/>
              </a:solidFill>
            </a:endParaRPr>
          </a:p>
        </p:txBody>
      </p:sp>
      <p:sp>
        <p:nvSpPr>
          <p:cNvPr id="5" name="Slide Number Placeholder 4">
            <a:extLst>
              <a:ext uri="{FF2B5EF4-FFF2-40B4-BE49-F238E27FC236}">
                <a16:creationId xmlns:a16="http://schemas.microsoft.com/office/drawing/2014/main" id="{D676735E-BB09-5671-702C-494B62568101}"/>
              </a:ext>
            </a:extLst>
          </p:cNvPr>
          <p:cNvSpPr>
            <a:spLocks noGrp="1"/>
          </p:cNvSpPr>
          <p:nvPr>
            <p:ph type="sldNum" sz="quarter" idx="10"/>
          </p:nvPr>
        </p:nvSpPr>
        <p:spPr/>
        <p:txBody>
          <a:bodyPr/>
          <a:lstStyle/>
          <a:p>
            <a:fld id="{48F63A3B-78C7-47BE-AE5E-E10140E04643}" type="slidenum">
              <a:rPr lang="en-US" smtClean="0"/>
              <a:pPr/>
              <a:t>12</a:t>
            </a:fld>
            <a:endParaRPr lang="en-US" dirty="0"/>
          </a:p>
        </p:txBody>
      </p:sp>
      <p:pic>
        <p:nvPicPr>
          <p:cNvPr id="7" name="Picture 6">
            <a:extLst>
              <a:ext uri="{FF2B5EF4-FFF2-40B4-BE49-F238E27FC236}">
                <a16:creationId xmlns:a16="http://schemas.microsoft.com/office/drawing/2014/main" id="{AAA40C46-AC41-8BFC-5698-273F35452346}"/>
              </a:ext>
            </a:extLst>
          </p:cNvPr>
          <p:cNvPicPr>
            <a:picLocks noChangeAspect="1"/>
          </p:cNvPicPr>
          <p:nvPr/>
        </p:nvPicPr>
        <p:blipFill>
          <a:blip r:embed="rId2"/>
          <a:stretch>
            <a:fillRect/>
          </a:stretch>
        </p:blipFill>
        <p:spPr>
          <a:xfrm>
            <a:off x="2948657" y="5493276"/>
            <a:ext cx="2688962" cy="1013578"/>
          </a:xfrm>
          <a:prstGeom prst="rect">
            <a:avLst/>
          </a:prstGeom>
        </p:spPr>
      </p:pic>
      <p:pic>
        <p:nvPicPr>
          <p:cNvPr id="9" name="Picture 8">
            <a:extLst>
              <a:ext uri="{FF2B5EF4-FFF2-40B4-BE49-F238E27FC236}">
                <a16:creationId xmlns:a16="http://schemas.microsoft.com/office/drawing/2014/main" id="{6C7A6E7A-89D6-D58E-EAB7-4FEB112B9B18}"/>
              </a:ext>
            </a:extLst>
          </p:cNvPr>
          <p:cNvPicPr>
            <a:picLocks noChangeAspect="1"/>
          </p:cNvPicPr>
          <p:nvPr/>
        </p:nvPicPr>
        <p:blipFill>
          <a:blip r:embed="rId3"/>
          <a:stretch>
            <a:fillRect/>
          </a:stretch>
        </p:blipFill>
        <p:spPr>
          <a:xfrm>
            <a:off x="7101611" y="3873911"/>
            <a:ext cx="4593699" cy="2307594"/>
          </a:xfrm>
          <a:prstGeom prst="rect">
            <a:avLst/>
          </a:prstGeom>
        </p:spPr>
      </p:pic>
    </p:spTree>
    <p:extLst>
      <p:ext uri="{BB962C8B-B14F-4D97-AF65-F5344CB8AC3E}">
        <p14:creationId xmlns:p14="http://schemas.microsoft.com/office/powerpoint/2010/main" val="4253901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CD3A223-EF2C-BE28-0EDF-D6BEE6A1D21E}"/>
              </a:ext>
            </a:extLst>
          </p:cNvPr>
          <p:cNvSpPr txBox="1"/>
          <p:nvPr/>
        </p:nvSpPr>
        <p:spPr>
          <a:xfrm>
            <a:off x="1486177" y="2185499"/>
            <a:ext cx="9681757" cy="3305777"/>
          </a:xfrm>
          <a:prstGeom prst="rect">
            <a:avLst/>
          </a:prstGeom>
          <a:noFill/>
        </p:spPr>
        <p:txBody>
          <a:bodyPr wrap="square">
            <a:spAutoFit/>
          </a:bodyPr>
          <a:lstStyle/>
          <a:p>
            <a:pPr>
              <a:lnSpc>
                <a:spcPct val="150000"/>
              </a:lnSpc>
              <a:buNone/>
            </a:pPr>
            <a:r>
              <a:rPr lang="en-US" sz="3200" b="1" dirty="0"/>
              <a:t>Why Logistic Regression?</a:t>
            </a:r>
          </a:p>
          <a:p>
            <a:pPr>
              <a:lnSpc>
                <a:spcPct val="150000"/>
              </a:lnSpc>
              <a:buFont typeface="Arial" panose="020B0604020202020204" pitchFamily="34" charset="0"/>
              <a:buChar char="•"/>
            </a:pPr>
            <a:r>
              <a:rPr lang="en-US" sz="2200" dirty="0"/>
              <a:t> Suitable for binary classification problems like real vs. fake news</a:t>
            </a:r>
          </a:p>
          <a:p>
            <a:pPr>
              <a:lnSpc>
                <a:spcPct val="150000"/>
              </a:lnSpc>
              <a:buFont typeface="Arial" panose="020B0604020202020204" pitchFamily="34" charset="0"/>
              <a:buChar char="•"/>
            </a:pPr>
            <a:r>
              <a:rPr lang="en-US" sz="2200" dirty="0"/>
              <a:t> Fast and efficient to train on large datasets</a:t>
            </a:r>
          </a:p>
          <a:p>
            <a:pPr>
              <a:lnSpc>
                <a:spcPct val="150000"/>
              </a:lnSpc>
              <a:buFont typeface="Arial" panose="020B0604020202020204" pitchFamily="34" charset="0"/>
              <a:buChar char="•"/>
            </a:pPr>
            <a:r>
              <a:rPr lang="en-US" sz="2200" dirty="0"/>
              <a:t> Produces interpretable results, making it easier to understand model decisions</a:t>
            </a:r>
          </a:p>
          <a:p>
            <a:pPr>
              <a:lnSpc>
                <a:spcPct val="150000"/>
              </a:lnSpc>
              <a:buFont typeface="Arial" panose="020B0604020202020204" pitchFamily="34" charset="0"/>
              <a:buChar char="•"/>
            </a:pPr>
            <a:r>
              <a:rPr lang="en-US" sz="2200" dirty="0"/>
              <a:t> Works well with text feature extraction methods like TF-IDF.</a:t>
            </a:r>
          </a:p>
        </p:txBody>
      </p:sp>
      <p:sp>
        <p:nvSpPr>
          <p:cNvPr id="8" name="TextBox 7">
            <a:extLst>
              <a:ext uri="{FF2B5EF4-FFF2-40B4-BE49-F238E27FC236}">
                <a16:creationId xmlns:a16="http://schemas.microsoft.com/office/drawing/2014/main" id="{A4EA4596-AF71-A831-0CF2-AAA5886EBA58}"/>
              </a:ext>
            </a:extLst>
          </p:cNvPr>
          <p:cNvSpPr txBox="1"/>
          <p:nvPr/>
        </p:nvSpPr>
        <p:spPr>
          <a:xfrm>
            <a:off x="727585" y="796549"/>
            <a:ext cx="11198943" cy="769441"/>
          </a:xfrm>
          <a:prstGeom prst="rect">
            <a:avLst/>
          </a:prstGeom>
          <a:noFill/>
        </p:spPr>
        <p:txBody>
          <a:bodyPr wrap="square">
            <a:spAutoFit/>
          </a:bodyPr>
          <a:lstStyle/>
          <a:p>
            <a:pPr>
              <a:buNone/>
            </a:pPr>
            <a:r>
              <a:rPr lang="en-US" sz="4400" b="1" dirty="0"/>
              <a:t>Fake News Detection Using Logistic Regression</a:t>
            </a:r>
          </a:p>
        </p:txBody>
      </p:sp>
    </p:spTree>
    <p:extLst>
      <p:ext uri="{BB962C8B-B14F-4D97-AF65-F5344CB8AC3E}">
        <p14:creationId xmlns:p14="http://schemas.microsoft.com/office/powerpoint/2010/main" val="1176397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2236373" y="162651"/>
            <a:ext cx="7915682" cy="1532074"/>
          </a:xfrm>
        </p:spPr>
        <p:txBody>
          <a:bodyPr/>
          <a:lstStyle/>
          <a:p>
            <a:r>
              <a:rPr lang="en-IN" sz="4800" b="1" dirty="0"/>
              <a:t>Fake News Detection Workflow</a:t>
            </a:r>
            <a:endParaRPr lang="en-US" sz="4800" b="1"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p:txBody>
          <a:bodyPr/>
          <a:lstStyle/>
          <a:p>
            <a:fld id="{48F63A3B-78C7-47BE-AE5E-E10140E04643}" type="slidenum">
              <a:rPr lang="en-US" smtClean="0"/>
              <a:pPr/>
              <a:t>14</a:t>
            </a:fld>
            <a:endParaRPr lang="en-US" dirty="0"/>
          </a:p>
        </p:txBody>
      </p:sp>
      <p:sp>
        <p:nvSpPr>
          <p:cNvPr id="6" name="TextBox 5">
            <a:extLst>
              <a:ext uri="{FF2B5EF4-FFF2-40B4-BE49-F238E27FC236}">
                <a16:creationId xmlns:a16="http://schemas.microsoft.com/office/drawing/2014/main" id="{CF5737B2-B444-FB5F-A9DF-6274B8B2F2ED}"/>
              </a:ext>
            </a:extLst>
          </p:cNvPr>
          <p:cNvSpPr txBox="1"/>
          <p:nvPr/>
        </p:nvSpPr>
        <p:spPr>
          <a:xfrm>
            <a:off x="2236373" y="1583522"/>
            <a:ext cx="8220482" cy="335758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t> </a:t>
            </a:r>
            <a:r>
              <a:rPr lang="en-IN" sz="2400" b="1" dirty="0"/>
              <a:t>Data Collection </a:t>
            </a:r>
            <a:r>
              <a:rPr lang="en-IN" sz="2400" dirty="0"/>
              <a:t>- Gather news articles, tweets, etc.</a:t>
            </a:r>
          </a:p>
          <a:p>
            <a:pPr marL="342900" indent="-342900">
              <a:lnSpc>
                <a:spcPct val="150000"/>
              </a:lnSpc>
              <a:buFont typeface="Arial" panose="020B0604020202020204" pitchFamily="34" charset="0"/>
              <a:buChar char="•"/>
            </a:pPr>
            <a:r>
              <a:rPr lang="en-IN" sz="2400" dirty="0"/>
              <a:t> </a:t>
            </a:r>
            <a:r>
              <a:rPr lang="en-IN" sz="2400" b="1" dirty="0"/>
              <a:t>Preprocessing </a:t>
            </a:r>
            <a:r>
              <a:rPr lang="en-IN" sz="2400" dirty="0"/>
              <a:t>- Clean text, remove stop words.</a:t>
            </a:r>
          </a:p>
          <a:p>
            <a:pPr marL="342900" indent="-342900">
              <a:lnSpc>
                <a:spcPct val="150000"/>
              </a:lnSpc>
              <a:buFont typeface="Arial" panose="020B0604020202020204" pitchFamily="34" charset="0"/>
              <a:buChar char="•"/>
            </a:pPr>
            <a:r>
              <a:rPr lang="en-IN" sz="2400" dirty="0"/>
              <a:t> </a:t>
            </a:r>
            <a:r>
              <a:rPr lang="en-IN" sz="2400" b="1" dirty="0"/>
              <a:t>Feature Extraction </a:t>
            </a:r>
            <a:r>
              <a:rPr lang="en-IN" sz="2400" dirty="0"/>
              <a:t>- Convert text to numerical data.</a:t>
            </a:r>
          </a:p>
          <a:p>
            <a:pPr marL="342900" indent="-342900">
              <a:lnSpc>
                <a:spcPct val="150000"/>
              </a:lnSpc>
              <a:buFont typeface="Arial" panose="020B0604020202020204" pitchFamily="34" charset="0"/>
              <a:buChar char="•"/>
            </a:pPr>
            <a:r>
              <a:rPr lang="en-IN" sz="2400" dirty="0"/>
              <a:t> </a:t>
            </a:r>
            <a:r>
              <a:rPr lang="en-IN" sz="2400" b="1" dirty="0"/>
              <a:t>Model Training </a:t>
            </a:r>
            <a:r>
              <a:rPr lang="en-IN" sz="2400" dirty="0"/>
              <a:t>- Train ML or DL models.</a:t>
            </a:r>
          </a:p>
          <a:p>
            <a:pPr marL="342900" indent="-342900">
              <a:lnSpc>
                <a:spcPct val="150000"/>
              </a:lnSpc>
              <a:buFont typeface="Arial" panose="020B0604020202020204" pitchFamily="34" charset="0"/>
              <a:buChar char="•"/>
            </a:pPr>
            <a:r>
              <a:rPr lang="en-IN" sz="2400" dirty="0"/>
              <a:t> </a:t>
            </a:r>
            <a:r>
              <a:rPr lang="en-IN" sz="2400" b="1" dirty="0"/>
              <a:t>Prediction</a:t>
            </a:r>
            <a:r>
              <a:rPr lang="en-IN" sz="2400" dirty="0"/>
              <a:t> - Classify news as fake or real.</a:t>
            </a:r>
          </a:p>
          <a:p>
            <a:pPr marL="342900" indent="-342900">
              <a:lnSpc>
                <a:spcPct val="150000"/>
              </a:lnSpc>
              <a:buFont typeface="Arial" panose="020B0604020202020204" pitchFamily="34" charset="0"/>
              <a:buChar char="•"/>
            </a:pPr>
            <a:r>
              <a:rPr lang="en-IN" sz="2400" dirty="0"/>
              <a:t> </a:t>
            </a:r>
            <a:r>
              <a:rPr lang="en-IN" sz="2400" b="1" dirty="0"/>
              <a:t>Evaluation</a:t>
            </a:r>
            <a:r>
              <a:rPr lang="en-IN" sz="2400" dirty="0"/>
              <a:t> - Measure accuracy using metrics.</a:t>
            </a:r>
          </a:p>
        </p:txBody>
      </p:sp>
    </p:spTree>
    <p:extLst>
      <p:ext uri="{BB962C8B-B14F-4D97-AF65-F5344CB8AC3E}">
        <p14:creationId xmlns:p14="http://schemas.microsoft.com/office/powerpoint/2010/main" val="1131718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1BB7CAB-F662-82A2-D539-31C226BC2359}"/>
              </a:ext>
            </a:extLst>
          </p:cNvPr>
          <p:cNvSpPr>
            <a:spLocks noGrp="1"/>
          </p:cNvSpPr>
          <p:nvPr>
            <p:ph type="title"/>
          </p:nvPr>
        </p:nvSpPr>
        <p:spPr>
          <a:xfrm>
            <a:off x="2010230" y="164669"/>
            <a:ext cx="8893743" cy="884234"/>
          </a:xfrm>
        </p:spPr>
        <p:txBody>
          <a:bodyPr>
            <a:normAutofit fontScale="90000"/>
          </a:bodyPr>
          <a:lstStyle/>
          <a:p>
            <a:pPr algn="ctr"/>
            <a:r>
              <a:rPr lang="en-IN" sz="4800" b="1" dirty="0">
                <a:solidFill>
                  <a:schemeClr val="tx1"/>
                </a:solidFill>
              </a:rPr>
              <a:t>Fake News Detection Workflow Diagram</a:t>
            </a:r>
            <a:endParaRPr lang="en-US" sz="4800" b="1" dirty="0">
              <a:solidFill>
                <a:schemeClr val="tx1"/>
              </a:solidFill>
            </a:endParaRPr>
          </a:p>
        </p:txBody>
      </p:sp>
      <p:sp>
        <p:nvSpPr>
          <p:cNvPr id="5" name="Slide Number Placeholder 4">
            <a:extLst>
              <a:ext uri="{FF2B5EF4-FFF2-40B4-BE49-F238E27FC236}">
                <a16:creationId xmlns:a16="http://schemas.microsoft.com/office/drawing/2014/main" id="{B3DF2D3E-0737-8A5B-A1D8-8F4F30C51D3E}"/>
              </a:ext>
            </a:extLst>
          </p:cNvPr>
          <p:cNvSpPr>
            <a:spLocks noGrp="1"/>
          </p:cNvSpPr>
          <p:nvPr>
            <p:ph type="sldNum" sz="quarter" idx="10"/>
          </p:nvPr>
        </p:nvSpPr>
        <p:spPr/>
        <p:txBody>
          <a:bodyPr/>
          <a:lstStyle/>
          <a:p>
            <a:fld id="{48F63A3B-78C7-47BE-AE5E-E10140E04643}" type="slidenum">
              <a:rPr lang="en-US" smtClean="0"/>
              <a:pPr/>
              <a:t>15</a:t>
            </a:fld>
            <a:endParaRPr lang="en-US" dirty="0"/>
          </a:p>
        </p:txBody>
      </p:sp>
      <p:pic>
        <p:nvPicPr>
          <p:cNvPr id="3" name="Picture 2">
            <a:extLst>
              <a:ext uri="{FF2B5EF4-FFF2-40B4-BE49-F238E27FC236}">
                <a16:creationId xmlns:a16="http://schemas.microsoft.com/office/drawing/2014/main" id="{91799072-A2CA-F59F-929F-040131F8DC1C}"/>
              </a:ext>
            </a:extLst>
          </p:cNvPr>
          <p:cNvPicPr>
            <a:picLocks noChangeAspect="1"/>
          </p:cNvPicPr>
          <p:nvPr/>
        </p:nvPicPr>
        <p:blipFill>
          <a:blip r:embed="rId2"/>
          <a:stretch>
            <a:fillRect/>
          </a:stretch>
        </p:blipFill>
        <p:spPr>
          <a:xfrm>
            <a:off x="1374771" y="1602658"/>
            <a:ext cx="9442457" cy="4940951"/>
          </a:xfrm>
          <a:prstGeom prst="rect">
            <a:avLst/>
          </a:prstGeom>
        </p:spPr>
      </p:pic>
      <p:sp>
        <p:nvSpPr>
          <p:cNvPr id="7" name="Rectangle 6">
            <a:extLst>
              <a:ext uri="{FF2B5EF4-FFF2-40B4-BE49-F238E27FC236}">
                <a16:creationId xmlns:a16="http://schemas.microsoft.com/office/drawing/2014/main" id="{79FB7559-4D13-6BD0-E2C1-029577762885}"/>
              </a:ext>
            </a:extLst>
          </p:cNvPr>
          <p:cNvSpPr/>
          <p:nvPr/>
        </p:nvSpPr>
        <p:spPr>
          <a:xfrm>
            <a:off x="9416285" y="3631016"/>
            <a:ext cx="1400943" cy="88423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940551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1491951" y="686063"/>
            <a:ext cx="7631709" cy="1091627"/>
          </a:xfrm>
        </p:spPr>
        <p:txBody>
          <a:bodyPr>
            <a:normAutofit fontScale="90000"/>
          </a:bodyPr>
          <a:lstStyle/>
          <a:p>
            <a:r>
              <a:rPr lang="en-US" sz="5400" b="1" dirty="0">
                <a:solidFill>
                  <a:schemeClr val="tx1"/>
                </a:solidFill>
              </a:rPr>
              <a:t>Introduction to datasets</a:t>
            </a:r>
          </a:p>
        </p:txBody>
      </p:sp>
      <p:sp>
        <p:nvSpPr>
          <p:cNvPr id="7" name="Content Placeholder 6">
            <a:extLst>
              <a:ext uri="{FF2B5EF4-FFF2-40B4-BE49-F238E27FC236}">
                <a16:creationId xmlns:a16="http://schemas.microsoft.com/office/drawing/2014/main" id="{E25605BF-C54C-5CA4-A69B-E88519B6A177}"/>
              </a:ext>
            </a:extLst>
          </p:cNvPr>
          <p:cNvSpPr>
            <a:spLocks noGrp="1"/>
          </p:cNvSpPr>
          <p:nvPr>
            <p:ph sz="half" idx="1"/>
          </p:nvPr>
        </p:nvSpPr>
        <p:spPr>
          <a:xfrm>
            <a:off x="983226" y="1704877"/>
            <a:ext cx="8415417" cy="3877853"/>
          </a:xfrm>
        </p:spPr>
        <p:txBody>
          <a:bodyPr>
            <a:noAutofit/>
          </a:bodyPr>
          <a:lstStyle/>
          <a:p>
            <a:pPr marL="457200" indent="-457200">
              <a:buFont typeface="Arial" panose="020B0604020202020204" pitchFamily="34" charset="0"/>
              <a:buChar char="•"/>
            </a:pPr>
            <a:r>
              <a:rPr lang="en-US" sz="2800" dirty="0">
                <a:solidFill>
                  <a:schemeClr val="tx1"/>
                </a:solidFill>
              </a:rPr>
              <a:t>A dataset is a collection of data used to train and test machine learning models.</a:t>
            </a:r>
          </a:p>
          <a:p>
            <a:pPr marL="457200" indent="-457200">
              <a:buFont typeface="Arial" panose="020B0604020202020204" pitchFamily="34" charset="0"/>
              <a:buChar char="•"/>
            </a:pPr>
            <a:r>
              <a:rPr lang="en-US" sz="2800" dirty="0">
                <a:solidFill>
                  <a:schemeClr val="tx1"/>
                </a:solidFill>
              </a:rPr>
              <a:t> In fake news detection, the dataset contains news articles, headlines, and related metadata labeled as fake or real.</a:t>
            </a:r>
          </a:p>
          <a:p>
            <a:pPr marL="457200" indent="-457200">
              <a:buFont typeface="Arial" panose="020B0604020202020204" pitchFamily="34" charset="0"/>
              <a:buChar char="•"/>
            </a:pPr>
            <a:r>
              <a:rPr lang="en-US" sz="2800" dirty="0">
                <a:solidFill>
                  <a:schemeClr val="tx1"/>
                </a:solidFill>
              </a:rPr>
              <a:t>Dataset Used: Kaggle Fake News Dataset.</a:t>
            </a:r>
          </a:p>
          <a:p>
            <a:pPr marL="457200" indent="-457200">
              <a:buFont typeface="Arial" panose="020B0604020202020204" pitchFamily="34" charset="0"/>
              <a:buChar char="•"/>
            </a:pPr>
            <a:r>
              <a:rPr lang="en-US" sz="2800" dirty="0">
                <a:solidFill>
                  <a:schemeClr val="tx1"/>
                </a:solidFill>
              </a:rPr>
              <a:t>Number of Records: ~10,000–2</a:t>
            </a:r>
            <a:r>
              <a:rPr lang="en-US" sz="2800" dirty="0"/>
              <a:t>4</a:t>
            </a:r>
            <a:r>
              <a:rPr lang="en-US" sz="2800" dirty="0">
                <a:solidFill>
                  <a:schemeClr val="tx1"/>
                </a:solidFill>
              </a:rPr>
              <a:t>,000+ news articles.</a:t>
            </a:r>
          </a:p>
          <a:p>
            <a:pPr marL="457200" indent="-457200">
              <a:buFont typeface="Arial" panose="020B0604020202020204" pitchFamily="34" charset="0"/>
              <a:buChar char="•"/>
            </a:pPr>
            <a:r>
              <a:rPr lang="en-US" sz="2800" dirty="0">
                <a:solidFill>
                  <a:schemeClr val="tx1"/>
                </a:solidFill>
              </a:rPr>
              <a:t>Number of Features: Text content, </a:t>
            </a:r>
            <a:r>
              <a:rPr lang="en-US" sz="2800" dirty="0"/>
              <a:t>Title</a:t>
            </a:r>
            <a:r>
              <a:rPr lang="en-US" sz="2800" dirty="0">
                <a:solidFill>
                  <a:schemeClr val="tx1"/>
                </a:solidFill>
              </a:rPr>
              <a:t>, subject, date, etc.</a:t>
            </a:r>
            <a:endParaRPr lang="en-IN" sz="2800" dirty="0">
              <a:solidFill>
                <a:schemeClr val="tx1"/>
              </a:solidFill>
            </a:endParaRP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FD2341-3D83-E418-3260-AD961FADF14A}"/>
              </a:ext>
            </a:extLst>
          </p:cNvPr>
          <p:cNvSpPr>
            <a:spLocks noGrp="1"/>
          </p:cNvSpPr>
          <p:nvPr>
            <p:ph type="title"/>
          </p:nvPr>
        </p:nvSpPr>
        <p:spPr>
          <a:xfrm>
            <a:off x="429283" y="777595"/>
            <a:ext cx="7631709" cy="845575"/>
          </a:xfrm>
        </p:spPr>
        <p:txBody>
          <a:bodyPr>
            <a:normAutofit fontScale="90000"/>
          </a:bodyPr>
          <a:lstStyle/>
          <a:p>
            <a:r>
              <a:rPr lang="en-IN" sz="5400" dirty="0">
                <a:solidFill>
                  <a:schemeClr val="tx1"/>
                </a:solidFill>
              </a:rPr>
              <a:t>Data Preprocessing</a:t>
            </a:r>
            <a:br>
              <a:rPr lang="en-US" sz="5400" dirty="0">
                <a:solidFill>
                  <a:schemeClr val="tx1"/>
                </a:solidFill>
              </a:rPr>
            </a:br>
            <a:endParaRPr lang="en-US" sz="5400" b="1" dirty="0">
              <a:solidFill>
                <a:schemeClr val="tx1"/>
              </a:solidFill>
            </a:endParaRP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
        <p:nvSpPr>
          <p:cNvPr id="14" name="Content Placeholder 3">
            <a:extLst>
              <a:ext uri="{FF2B5EF4-FFF2-40B4-BE49-F238E27FC236}">
                <a16:creationId xmlns:a16="http://schemas.microsoft.com/office/drawing/2014/main" id="{ECD07F6F-3307-0651-9FAA-AED2DD0C5E32}"/>
              </a:ext>
            </a:extLst>
          </p:cNvPr>
          <p:cNvSpPr txBox="1">
            <a:spLocks/>
          </p:cNvSpPr>
          <p:nvPr/>
        </p:nvSpPr>
        <p:spPr>
          <a:xfrm>
            <a:off x="616320" y="1502410"/>
            <a:ext cx="6571061" cy="5281847"/>
          </a:xfrm>
          <a:prstGeom prst="rect">
            <a:avLst/>
          </a:prstGeom>
        </p:spPr>
        <p:txBody>
          <a:bodyPr vert="horz" lIns="91440" tIns="0" rIns="9144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2pPr>
            <a:lvl3pPr marL="685800" indent="-347472" algn="l" defTabSz="914400" rtl="0" eaLnBrk="1" latinLnBrk="0" hangingPunct="1">
              <a:lnSpc>
                <a:spcPct val="100000"/>
              </a:lnSpc>
              <a:spcBef>
                <a:spcPts val="0"/>
              </a:spcBef>
              <a:buFont typeface="Arial" panose="020B0604020202020204" pitchFamily="34" charset="0"/>
              <a:buChar char="•"/>
              <a:defRPr sz="24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lang="en-US" dirty="0">
              <a:solidFill>
                <a:schemeClr val="tx1"/>
              </a:solidFill>
            </a:endParaRPr>
          </a:p>
          <a:p>
            <a:pPr>
              <a:lnSpc>
                <a:spcPct val="150000"/>
              </a:lnSpc>
            </a:pPr>
            <a:r>
              <a:rPr lang="en-US" dirty="0">
                <a:solidFill>
                  <a:schemeClr val="tx1"/>
                </a:solidFill>
              </a:rPr>
              <a:t>Cleans and prepares text for analysis by:</a:t>
            </a:r>
          </a:p>
          <a:p>
            <a:pPr marL="342900" indent="-342900">
              <a:lnSpc>
                <a:spcPct val="150000"/>
              </a:lnSpc>
              <a:buFont typeface="Arial" panose="020B0604020202020204" pitchFamily="34" charset="0"/>
              <a:buChar char="•"/>
            </a:pPr>
            <a:r>
              <a:rPr lang="en-US" dirty="0">
                <a:solidFill>
                  <a:schemeClr val="tx1"/>
                </a:solidFill>
              </a:rPr>
              <a:t>Removing stop words, special characters, and punctuation.</a:t>
            </a:r>
          </a:p>
          <a:p>
            <a:pPr marL="342900" indent="-342900">
              <a:lnSpc>
                <a:spcPct val="150000"/>
              </a:lnSpc>
              <a:buFont typeface="Arial" panose="020B0604020202020204" pitchFamily="34" charset="0"/>
              <a:buChar char="•"/>
            </a:pPr>
            <a:r>
              <a:rPr lang="en-US" dirty="0">
                <a:solidFill>
                  <a:schemeClr val="tx1"/>
                </a:solidFill>
              </a:rPr>
              <a:t>Converting text to lowercase.</a:t>
            </a:r>
          </a:p>
          <a:p>
            <a:pPr marL="342900" indent="-342900">
              <a:lnSpc>
                <a:spcPct val="150000"/>
              </a:lnSpc>
              <a:buFont typeface="Arial" panose="020B0604020202020204" pitchFamily="34" charset="0"/>
              <a:buChar char="•"/>
            </a:pPr>
            <a:r>
              <a:rPr lang="en-US" dirty="0">
                <a:solidFill>
                  <a:schemeClr val="tx1"/>
                </a:solidFill>
              </a:rPr>
              <a:t>Performing stemming or lemmatization.</a:t>
            </a:r>
            <a:br>
              <a:rPr lang="en-US" dirty="0">
                <a:solidFill>
                  <a:schemeClr val="tx1"/>
                </a:solidFill>
              </a:rPr>
            </a:br>
            <a:endParaRPr lang="en-US" dirty="0">
              <a:solidFill>
                <a:schemeClr val="tx1"/>
              </a:solidFill>
            </a:endParaRPr>
          </a:p>
        </p:txBody>
      </p:sp>
      <p:pic>
        <p:nvPicPr>
          <p:cNvPr id="18" name="Picture 17">
            <a:extLst>
              <a:ext uri="{FF2B5EF4-FFF2-40B4-BE49-F238E27FC236}">
                <a16:creationId xmlns:a16="http://schemas.microsoft.com/office/drawing/2014/main" id="{EB72B482-3539-0133-9E94-EBABCB66E014}"/>
              </a:ext>
            </a:extLst>
          </p:cNvPr>
          <p:cNvPicPr>
            <a:picLocks noChangeAspect="1"/>
          </p:cNvPicPr>
          <p:nvPr/>
        </p:nvPicPr>
        <p:blipFill>
          <a:blip r:embed="rId3"/>
          <a:stretch>
            <a:fillRect/>
          </a:stretch>
        </p:blipFill>
        <p:spPr>
          <a:xfrm>
            <a:off x="7375680" y="963590"/>
            <a:ext cx="4816320" cy="5894410"/>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3224918" y="0"/>
            <a:ext cx="5513837" cy="980844"/>
          </a:xfrm>
        </p:spPr>
        <p:txBody>
          <a:bodyPr>
            <a:normAutofit/>
          </a:bodyPr>
          <a:lstStyle/>
          <a:p>
            <a:pPr algn="ctr"/>
            <a:r>
              <a:rPr lang="en-IN" sz="4400" b="1" dirty="0">
                <a:solidFill>
                  <a:schemeClr val="tx1"/>
                </a:solidFill>
              </a:rPr>
              <a:t>Feature Extraction</a:t>
            </a:r>
            <a:endParaRPr lang="en-US" sz="4400" b="1" dirty="0">
              <a:solidFill>
                <a:schemeClr val="tx1"/>
              </a:solidFill>
            </a:endParaRPr>
          </a:p>
        </p:txBody>
      </p:sp>
      <p:sp>
        <p:nvSpPr>
          <p:cNvPr id="4" name="Text Placeholder 3">
            <a:extLst>
              <a:ext uri="{FF2B5EF4-FFF2-40B4-BE49-F238E27FC236}">
                <a16:creationId xmlns:a16="http://schemas.microsoft.com/office/drawing/2014/main" id="{97DCC342-9FD1-7055-EAAC-008DC851B13F}"/>
              </a:ext>
            </a:extLst>
          </p:cNvPr>
          <p:cNvSpPr>
            <a:spLocks noGrp="1"/>
          </p:cNvSpPr>
          <p:nvPr>
            <p:ph type="body" sz="quarter" idx="13"/>
          </p:nvPr>
        </p:nvSpPr>
        <p:spPr>
          <a:xfrm>
            <a:off x="1581527" y="928688"/>
            <a:ext cx="9467473" cy="3562148"/>
          </a:xfrm>
        </p:spPr>
        <p:txBody>
          <a:bodyPr/>
          <a:lstStyle/>
          <a:p>
            <a:r>
              <a:rPr lang="en-US" sz="2400" b="1" dirty="0"/>
              <a:t>1). </a:t>
            </a:r>
            <a:r>
              <a:rPr lang="en-US" sz="2400" dirty="0"/>
              <a:t> </a:t>
            </a:r>
            <a:r>
              <a:rPr lang="en-US" sz="2400" b="1" dirty="0"/>
              <a:t>TF-IDF (Term Frequency-Inverse Document Frequency)</a:t>
            </a:r>
            <a:br>
              <a:rPr lang="en-US" sz="2400" dirty="0"/>
            </a:br>
            <a:r>
              <a:rPr lang="en-US" sz="2400" dirty="0"/>
              <a:t>       Converts text into numerical form based on word   importance.</a:t>
            </a:r>
            <a:br>
              <a:rPr lang="en-US" sz="2400" dirty="0"/>
            </a:br>
            <a:r>
              <a:rPr lang="en-US" sz="2400" dirty="0"/>
              <a:t>       Filters common words and highlights key terms.</a:t>
            </a:r>
          </a:p>
          <a:p>
            <a:r>
              <a:rPr lang="en-US" sz="2400" b="1" dirty="0"/>
              <a:t>2). </a:t>
            </a:r>
            <a:r>
              <a:rPr lang="en-US" sz="2400" dirty="0"/>
              <a:t> </a:t>
            </a:r>
            <a:r>
              <a:rPr lang="en-US" sz="2400" b="1" dirty="0"/>
              <a:t>Word Embeddings</a:t>
            </a:r>
            <a:br>
              <a:rPr lang="en-US" sz="2400" dirty="0"/>
            </a:br>
            <a:r>
              <a:rPr lang="en-US" sz="2400" dirty="0"/>
              <a:t>       Represents words as dense vectors, capturing meaning &amp; context.</a:t>
            </a:r>
            <a:br>
              <a:rPr lang="en-US" sz="2400" dirty="0"/>
            </a:br>
            <a:r>
              <a:rPr lang="en-US" sz="2400" dirty="0"/>
              <a:t>       Used for deep learning models.</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
        <p:nvSpPr>
          <p:cNvPr id="9" name="Text Placeholder 3">
            <a:extLst>
              <a:ext uri="{FF2B5EF4-FFF2-40B4-BE49-F238E27FC236}">
                <a16:creationId xmlns:a16="http://schemas.microsoft.com/office/drawing/2014/main" id="{24F6B2CF-DFFD-401E-D0C5-EAE621ED41C5}"/>
              </a:ext>
            </a:extLst>
          </p:cNvPr>
          <p:cNvSpPr txBox="1">
            <a:spLocks/>
          </p:cNvSpPr>
          <p:nvPr/>
        </p:nvSpPr>
        <p:spPr>
          <a:xfrm>
            <a:off x="1581527" y="4100052"/>
            <a:ext cx="9028946" cy="1591113"/>
          </a:xfrm>
          <a:prstGeom prst="rect">
            <a:avLst/>
          </a:prstGeom>
        </p:spPr>
        <p:txBody>
          <a:bodyPr vert="horz" lIns="91440" tIns="0" rIns="91440" bIns="0" rtlCol="0" anchor="t" anchorCtr="0">
            <a:no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1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solidFill>
            </a:endParaRPr>
          </a:p>
        </p:txBody>
      </p:sp>
      <p:sp>
        <p:nvSpPr>
          <p:cNvPr id="6" name="TextBox 5">
            <a:extLst>
              <a:ext uri="{FF2B5EF4-FFF2-40B4-BE49-F238E27FC236}">
                <a16:creationId xmlns:a16="http://schemas.microsoft.com/office/drawing/2014/main" id="{49ED1C77-CB52-A338-006D-B5E890AB922C}"/>
              </a:ext>
            </a:extLst>
          </p:cNvPr>
          <p:cNvSpPr txBox="1"/>
          <p:nvPr/>
        </p:nvSpPr>
        <p:spPr>
          <a:xfrm>
            <a:off x="889163" y="4490836"/>
            <a:ext cx="9028945" cy="646331"/>
          </a:xfrm>
          <a:prstGeom prst="rect">
            <a:avLst/>
          </a:prstGeom>
          <a:noFill/>
        </p:spPr>
        <p:txBody>
          <a:bodyPr wrap="square">
            <a:spAutoFit/>
          </a:bodyPr>
          <a:lstStyle/>
          <a:p>
            <a:pPr algn="ctr"/>
            <a:r>
              <a:rPr lang="en-US" sz="3600" b="1" dirty="0"/>
              <a:t>Splitting into training and testing data</a:t>
            </a:r>
            <a:endParaRPr lang="en-IN" sz="3600" b="1" dirty="0"/>
          </a:p>
        </p:txBody>
      </p:sp>
      <p:sp>
        <p:nvSpPr>
          <p:cNvPr id="8" name="TextBox 7">
            <a:extLst>
              <a:ext uri="{FF2B5EF4-FFF2-40B4-BE49-F238E27FC236}">
                <a16:creationId xmlns:a16="http://schemas.microsoft.com/office/drawing/2014/main" id="{64E9F081-0E5C-A09B-174A-68C0B03A6814}"/>
              </a:ext>
            </a:extLst>
          </p:cNvPr>
          <p:cNvSpPr txBox="1"/>
          <p:nvPr/>
        </p:nvSpPr>
        <p:spPr>
          <a:xfrm>
            <a:off x="1688335" y="5267124"/>
            <a:ext cx="6094268" cy="1200329"/>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tx1"/>
                </a:solidFill>
              </a:rPr>
              <a:t>Training Data</a:t>
            </a:r>
            <a:r>
              <a:rPr lang="en-US" sz="2400" dirty="0">
                <a:solidFill>
                  <a:schemeClr val="tx1"/>
                </a:solidFill>
              </a:rPr>
              <a:t> – Used to train the model.</a:t>
            </a:r>
          </a:p>
          <a:p>
            <a:pPr marL="342900" indent="-342900">
              <a:buFont typeface="Arial" panose="020B0604020202020204" pitchFamily="34" charset="0"/>
              <a:buChar char="•"/>
            </a:pPr>
            <a:r>
              <a:rPr lang="en-US" sz="2400" b="1" dirty="0">
                <a:solidFill>
                  <a:schemeClr val="tx1"/>
                </a:solidFill>
              </a:rPr>
              <a:t>Testing Data</a:t>
            </a:r>
            <a:r>
              <a:rPr lang="en-US" sz="2400" dirty="0">
                <a:solidFill>
                  <a:schemeClr val="tx1"/>
                </a:solidFill>
              </a:rPr>
              <a:t> – Used to evaluate model accuracy.</a:t>
            </a:r>
          </a:p>
        </p:txBody>
      </p:sp>
      <p:sp>
        <p:nvSpPr>
          <p:cNvPr id="3" name="Title 4">
            <a:extLst>
              <a:ext uri="{FF2B5EF4-FFF2-40B4-BE49-F238E27FC236}">
                <a16:creationId xmlns:a16="http://schemas.microsoft.com/office/drawing/2014/main" id="{C1D207BE-7334-E342-1926-0510E6D7B701}"/>
              </a:ext>
            </a:extLst>
          </p:cNvPr>
          <p:cNvSpPr txBox="1">
            <a:spLocks/>
          </p:cNvSpPr>
          <p:nvPr/>
        </p:nvSpPr>
        <p:spPr>
          <a:xfrm>
            <a:off x="3377318" y="152400"/>
            <a:ext cx="5513837" cy="980844"/>
          </a:xfrm>
          <a:prstGeom prst="rect">
            <a:avLst/>
          </a:prstGeom>
        </p:spPr>
        <p:txBody>
          <a:bodyPr vert="horz" lIns="91440" tIns="0" rIns="91440" bIns="0" rtlCol="0" anchor="ctr">
            <a:normAutofit/>
          </a:bodyPr>
          <a:lstStyle>
            <a:lvl1pPr algn="l" defTabSz="914400" rtl="0" eaLnBrk="1" latinLnBrk="0" hangingPunct="1">
              <a:lnSpc>
                <a:spcPct val="100000"/>
              </a:lnSpc>
              <a:spcBef>
                <a:spcPct val="0"/>
              </a:spcBef>
              <a:buNone/>
              <a:defRPr sz="3600" kern="1200">
                <a:solidFill>
                  <a:schemeClr val="accent6"/>
                </a:solidFill>
                <a:latin typeface="+mj-lt"/>
                <a:ea typeface="+mj-ea"/>
                <a:cs typeface="+mj-cs"/>
              </a:defRPr>
            </a:lvl1pPr>
          </a:lstStyle>
          <a:p>
            <a:pPr algn="ctr"/>
            <a:endParaRPr lang="en-US" sz="4400" b="1" dirty="0">
              <a:solidFill>
                <a:schemeClr val="tx1"/>
              </a:solidFill>
            </a:endParaRPr>
          </a:p>
        </p:txBody>
      </p:sp>
    </p:spTree>
    <p:extLst>
      <p:ext uri="{BB962C8B-B14F-4D97-AF65-F5344CB8AC3E}">
        <p14:creationId xmlns:p14="http://schemas.microsoft.com/office/powerpoint/2010/main" val="3969996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90BD2-4F01-3322-37FC-C649045BFC87}"/>
              </a:ext>
            </a:extLst>
          </p:cNvPr>
          <p:cNvSpPr>
            <a:spLocks noGrp="1"/>
          </p:cNvSpPr>
          <p:nvPr>
            <p:ph type="title"/>
          </p:nvPr>
        </p:nvSpPr>
        <p:spPr>
          <a:xfrm>
            <a:off x="1280931" y="414235"/>
            <a:ext cx="10515600" cy="767223"/>
          </a:xfrm>
        </p:spPr>
        <p:txBody>
          <a:bodyPr>
            <a:normAutofit/>
          </a:bodyPr>
          <a:lstStyle/>
          <a:p>
            <a:r>
              <a:rPr lang="en-IN" sz="4000" b="1" dirty="0"/>
              <a:t>Prediction and Evaluation</a:t>
            </a:r>
          </a:p>
        </p:txBody>
      </p:sp>
      <p:pic>
        <p:nvPicPr>
          <p:cNvPr id="5" name="Picture 4">
            <a:extLst>
              <a:ext uri="{FF2B5EF4-FFF2-40B4-BE49-F238E27FC236}">
                <a16:creationId xmlns:a16="http://schemas.microsoft.com/office/drawing/2014/main" id="{65FC1571-ABD7-7D3A-1CB1-440E9DE5E4AF}"/>
              </a:ext>
            </a:extLst>
          </p:cNvPr>
          <p:cNvPicPr>
            <a:picLocks noChangeAspect="1"/>
          </p:cNvPicPr>
          <p:nvPr/>
        </p:nvPicPr>
        <p:blipFill>
          <a:blip r:embed="rId2"/>
          <a:stretch>
            <a:fillRect/>
          </a:stretch>
        </p:blipFill>
        <p:spPr>
          <a:xfrm>
            <a:off x="1280931" y="1387475"/>
            <a:ext cx="9630137" cy="4968875"/>
          </a:xfrm>
          <a:prstGeom prst="rect">
            <a:avLst/>
          </a:prstGeom>
        </p:spPr>
      </p:pic>
    </p:spTree>
    <p:extLst>
      <p:ext uri="{BB962C8B-B14F-4D97-AF65-F5344CB8AC3E}">
        <p14:creationId xmlns:p14="http://schemas.microsoft.com/office/powerpoint/2010/main" val="432541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EEC99D-25CF-F430-3059-5A473202FBE0}"/>
              </a:ext>
            </a:extLst>
          </p:cNvPr>
          <p:cNvSpPr>
            <a:spLocks noGrp="1"/>
          </p:cNvSpPr>
          <p:nvPr>
            <p:ph type="sldNum" sz="quarter" idx="12"/>
          </p:nvPr>
        </p:nvSpPr>
        <p:spPr/>
        <p:txBody>
          <a:bodyPr/>
          <a:lstStyle/>
          <a:p>
            <a:fld id="{48F63A3B-78C7-47BE-AE5E-E10140E04643}" type="slidenum">
              <a:rPr lang="en-US" smtClean="0"/>
              <a:pPr/>
              <a:t>20</a:t>
            </a:fld>
            <a:endParaRPr lang="en-US" dirty="0"/>
          </a:p>
        </p:txBody>
      </p:sp>
      <p:pic>
        <p:nvPicPr>
          <p:cNvPr id="6" name="Picture 5">
            <a:extLst>
              <a:ext uri="{FF2B5EF4-FFF2-40B4-BE49-F238E27FC236}">
                <a16:creationId xmlns:a16="http://schemas.microsoft.com/office/drawing/2014/main" id="{7FE70077-F1D1-DD8A-1DF9-DAA65D4D0BE9}"/>
              </a:ext>
            </a:extLst>
          </p:cNvPr>
          <p:cNvPicPr>
            <a:picLocks noChangeAspect="1"/>
          </p:cNvPicPr>
          <p:nvPr/>
        </p:nvPicPr>
        <p:blipFill>
          <a:blip r:embed="rId2"/>
          <a:srcRect r="3959" b="7127"/>
          <a:stretch/>
        </p:blipFill>
        <p:spPr>
          <a:xfrm>
            <a:off x="206477" y="834558"/>
            <a:ext cx="11779045" cy="5521792"/>
          </a:xfrm>
          <a:prstGeom prst="rect">
            <a:avLst/>
          </a:prstGeom>
        </p:spPr>
      </p:pic>
    </p:spTree>
    <p:extLst>
      <p:ext uri="{BB962C8B-B14F-4D97-AF65-F5344CB8AC3E}">
        <p14:creationId xmlns:p14="http://schemas.microsoft.com/office/powerpoint/2010/main" val="3200205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D80AFE1-F757-C827-DC1C-214A49B21587}"/>
              </a:ext>
            </a:extLst>
          </p:cNvPr>
          <p:cNvPicPr>
            <a:picLocks noChangeAspect="1"/>
          </p:cNvPicPr>
          <p:nvPr/>
        </p:nvPicPr>
        <p:blipFill>
          <a:blip r:embed="rId2"/>
          <a:stretch>
            <a:fillRect/>
          </a:stretch>
        </p:blipFill>
        <p:spPr>
          <a:xfrm>
            <a:off x="1091381" y="452744"/>
            <a:ext cx="9763432" cy="5780907"/>
          </a:xfrm>
          <a:prstGeom prst="rect">
            <a:avLst/>
          </a:prstGeom>
        </p:spPr>
      </p:pic>
    </p:spTree>
    <p:extLst>
      <p:ext uri="{BB962C8B-B14F-4D97-AF65-F5344CB8AC3E}">
        <p14:creationId xmlns:p14="http://schemas.microsoft.com/office/powerpoint/2010/main" val="2474124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4B7968-B814-788B-3249-B3BA15C41AB9}"/>
              </a:ext>
            </a:extLst>
          </p:cNvPr>
          <p:cNvSpPr>
            <a:spLocks noGrp="1"/>
          </p:cNvSpPr>
          <p:nvPr>
            <p:ph type="sldNum" sz="quarter" idx="12"/>
          </p:nvPr>
        </p:nvSpPr>
        <p:spPr/>
        <p:txBody>
          <a:bodyPr/>
          <a:lstStyle/>
          <a:p>
            <a:fld id="{48F63A3B-78C7-47BE-AE5E-E10140E04643}" type="slidenum">
              <a:rPr lang="en-US" smtClean="0"/>
              <a:pPr/>
              <a:t>22</a:t>
            </a:fld>
            <a:endParaRPr lang="en-US" dirty="0"/>
          </a:p>
        </p:txBody>
      </p:sp>
      <p:pic>
        <p:nvPicPr>
          <p:cNvPr id="6" name="Picture 5">
            <a:extLst>
              <a:ext uri="{FF2B5EF4-FFF2-40B4-BE49-F238E27FC236}">
                <a16:creationId xmlns:a16="http://schemas.microsoft.com/office/drawing/2014/main" id="{29DB3B6E-E10E-0721-08BB-710C5E7C129E}"/>
              </a:ext>
            </a:extLst>
          </p:cNvPr>
          <p:cNvPicPr>
            <a:picLocks noChangeAspect="1"/>
          </p:cNvPicPr>
          <p:nvPr/>
        </p:nvPicPr>
        <p:blipFill>
          <a:blip r:embed="rId2"/>
          <a:srcRect l="1704"/>
          <a:stretch/>
        </p:blipFill>
        <p:spPr>
          <a:xfrm>
            <a:off x="103909" y="1427636"/>
            <a:ext cx="11984182" cy="4928714"/>
          </a:xfrm>
          <a:prstGeom prst="rect">
            <a:avLst/>
          </a:prstGeom>
        </p:spPr>
      </p:pic>
      <p:sp>
        <p:nvSpPr>
          <p:cNvPr id="3" name="TextBox 2">
            <a:extLst>
              <a:ext uri="{FF2B5EF4-FFF2-40B4-BE49-F238E27FC236}">
                <a16:creationId xmlns:a16="http://schemas.microsoft.com/office/drawing/2014/main" id="{34122E70-0F56-3EB2-3455-9594DF748C9A}"/>
              </a:ext>
            </a:extLst>
          </p:cNvPr>
          <p:cNvSpPr txBox="1"/>
          <p:nvPr/>
        </p:nvSpPr>
        <p:spPr>
          <a:xfrm>
            <a:off x="2290916" y="158200"/>
            <a:ext cx="6096000" cy="769441"/>
          </a:xfrm>
          <a:prstGeom prst="rect">
            <a:avLst/>
          </a:prstGeom>
          <a:noFill/>
        </p:spPr>
        <p:txBody>
          <a:bodyPr wrap="square">
            <a:spAutoFit/>
          </a:bodyPr>
          <a:lstStyle/>
          <a:p>
            <a:r>
              <a:rPr lang="en-US" sz="4400" dirty="0"/>
              <a:t>Classification Output</a:t>
            </a:r>
            <a:endParaRPr lang="en-IN" sz="4400" dirty="0"/>
          </a:p>
        </p:txBody>
      </p:sp>
    </p:spTree>
    <p:extLst>
      <p:ext uri="{BB962C8B-B14F-4D97-AF65-F5344CB8AC3E}">
        <p14:creationId xmlns:p14="http://schemas.microsoft.com/office/powerpoint/2010/main" val="220356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202FF-59E5-F50D-E322-FB8C1FBE74CB}"/>
              </a:ext>
            </a:extLst>
          </p:cNvPr>
          <p:cNvSpPr>
            <a:spLocks noGrp="1"/>
          </p:cNvSpPr>
          <p:nvPr>
            <p:ph type="title"/>
          </p:nvPr>
        </p:nvSpPr>
        <p:spPr>
          <a:xfrm>
            <a:off x="745603" y="422476"/>
            <a:ext cx="10515600" cy="1250066"/>
          </a:xfrm>
        </p:spPr>
        <p:txBody>
          <a:bodyPr>
            <a:normAutofit/>
          </a:bodyPr>
          <a:lstStyle/>
          <a:p>
            <a:pPr algn="ctr"/>
            <a:r>
              <a:rPr lang="en-US" sz="5400" b="1" dirty="0"/>
              <a:t>Conclusion</a:t>
            </a:r>
            <a:endParaRPr lang="en-IN" sz="5400" b="1" dirty="0"/>
          </a:p>
        </p:txBody>
      </p:sp>
      <p:sp>
        <p:nvSpPr>
          <p:cNvPr id="3" name="Content Placeholder 2">
            <a:extLst>
              <a:ext uri="{FF2B5EF4-FFF2-40B4-BE49-F238E27FC236}">
                <a16:creationId xmlns:a16="http://schemas.microsoft.com/office/drawing/2014/main" id="{2BD6EF89-FF33-8C81-AB49-6D8D31B183FC}"/>
              </a:ext>
            </a:extLst>
          </p:cNvPr>
          <p:cNvSpPr>
            <a:spLocks noGrp="1"/>
          </p:cNvSpPr>
          <p:nvPr>
            <p:ph idx="1"/>
          </p:nvPr>
        </p:nvSpPr>
        <p:spPr>
          <a:xfrm>
            <a:off x="838200" y="1825625"/>
            <a:ext cx="10782782" cy="4667772"/>
          </a:xfrm>
        </p:spPr>
        <p:txBody>
          <a:bodyPr>
            <a:normAutofit/>
          </a:bodyPr>
          <a:lstStyle/>
          <a:p>
            <a:pPr marL="0" indent="0" algn="just">
              <a:buNone/>
            </a:pPr>
            <a:r>
              <a:rPr lang="en-US" sz="3200" dirty="0"/>
              <a:t>We choose Logistic Regression for fake news detection because it is simple, fast, and effective for binary classification problems like real vs. fake news. It works well with text-based features like TF-IDF, requires less computational power, and provides clear decision boundaries. This makes it easy to train, interpret, and deploy while still achieving good accuracy.</a:t>
            </a:r>
            <a:endParaRPr lang="en-IN" sz="3200" dirty="0"/>
          </a:p>
        </p:txBody>
      </p:sp>
      <p:sp>
        <p:nvSpPr>
          <p:cNvPr id="4" name="Slide Number Placeholder 3">
            <a:extLst>
              <a:ext uri="{FF2B5EF4-FFF2-40B4-BE49-F238E27FC236}">
                <a16:creationId xmlns:a16="http://schemas.microsoft.com/office/drawing/2014/main" id="{2AC9D8D6-5B8A-3CE9-D54E-B13372197358}"/>
              </a:ext>
            </a:extLst>
          </p:cNvPr>
          <p:cNvSpPr>
            <a:spLocks noGrp="1"/>
          </p:cNvSpPr>
          <p:nvPr>
            <p:ph type="sldNum" sz="quarter" idx="12"/>
          </p:nvPr>
        </p:nvSpPr>
        <p:spPr>
          <a:xfrm>
            <a:off x="8610600" y="6799342"/>
            <a:ext cx="2743200" cy="365125"/>
          </a:xfrm>
        </p:spPr>
        <p:txBody>
          <a:bodyPr/>
          <a:lstStyle/>
          <a:p>
            <a:fld id="{48F63A3B-78C7-47BE-AE5E-E10140E04643}" type="slidenum">
              <a:rPr lang="en-US" smtClean="0"/>
              <a:pPr/>
              <a:t>23</a:t>
            </a:fld>
            <a:endParaRPr lang="en-US" dirty="0"/>
          </a:p>
        </p:txBody>
      </p:sp>
    </p:spTree>
    <p:extLst>
      <p:ext uri="{BB962C8B-B14F-4D97-AF65-F5344CB8AC3E}">
        <p14:creationId xmlns:p14="http://schemas.microsoft.com/office/powerpoint/2010/main" val="344056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382B-5D76-06EA-8CCF-625556201D09}"/>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8F4B365B-6243-131F-EAC6-8CFD524FA9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860A515-1659-38AA-E6BA-3909F8ADD059}"/>
              </a:ext>
            </a:extLst>
          </p:cNvPr>
          <p:cNvSpPr>
            <a:spLocks noGrp="1"/>
          </p:cNvSpPr>
          <p:nvPr>
            <p:ph type="sldNum" sz="quarter" idx="12"/>
          </p:nvPr>
        </p:nvSpPr>
        <p:spPr/>
        <p:txBody>
          <a:bodyPr/>
          <a:lstStyle/>
          <a:p>
            <a:fld id="{48F63A3B-78C7-47BE-AE5E-E10140E04643}" type="slidenum">
              <a:rPr lang="en-US" smtClean="0"/>
              <a:pPr/>
              <a:t>24</a:t>
            </a:fld>
            <a:endParaRPr lang="en-US" dirty="0"/>
          </a:p>
        </p:txBody>
      </p:sp>
      <p:pic>
        <p:nvPicPr>
          <p:cNvPr id="6" name="Picture 5">
            <a:extLst>
              <a:ext uri="{FF2B5EF4-FFF2-40B4-BE49-F238E27FC236}">
                <a16:creationId xmlns:a16="http://schemas.microsoft.com/office/drawing/2014/main" id="{EC9FACBB-A471-D74C-D3B1-73C06F9FF4F1}"/>
              </a:ext>
            </a:extLst>
          </p:cNvPr>
          <p:cNvPicPr>
            <a:picLocks noChangeAspect="1"/>
          </p:cNvPicPr>
          <p:nvPr/>
        </p:nvPicPr>
        <p:blipFill>
          <a:blip r:embed="rId2"/>
          <a:stretch>
            <a:fillRect/>
          </a:stretch>
        </p:blipFill>
        <p:spPr>
          <a:xfrm>
            <a:off x="608012" y="346075"/>
            <a:ext cx="10963275" cy="5743575"/>
          </a:xfrm>
          <a:prstGeom prst="rect">
            <a:avLst/>
          </a:prstGeom>
        </p:spPr>
      </p:pic>
    </p:spTree>
    <p:extLst>
      <p:ext uri="{BB962C8B-B14F-4D97-AF65-F5344CB8AC3E}">
        <p14:creationId xmlns:p14="http://schemas.microsoft.com/office/powerpoint/2010/main" val="271368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3763701" y="2303362"/>
            <a:ext cx="6914131" cy="1388962"/>
          </a:xfrm>
        </p:spPr>
        <p:txBody>
          <a:bodyPr/>
          <a:lstStyle/>
          <a:p>
            <a:r>
              <a:rPr lang="en-US" sz="7200" dirty="0"/>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documentManagement/types"/>
    <ds:schemaRef ds:uri="http://purl.org/dc/elements/1.1/"/>
    <ds:schemaRef ds:uri="http://schemas.microsoft.com/office/infopath/2007/PartnerControls"/>
    <ds:schemaRef ds:uri="16c05727-aa75-4e4a-9b5f-8a80a1165891"/>
    <ds:schemaRef ds:uri="71af3243-3dd4-4a8d-8c0d-dd76da1f02a5"/>
    <ds:schemaRef ds:uri="http://purl.org/dc/terms/"/>
    <ds:schemaRef ds:uri="http://schemas.openxmlformats.org/package/2006/metadata/core-properties"/>
    <ds:schemaRef ds:uri="230e9df3-be65-4c73-a93b-d1236ebd677e"/>
    <ds:schemaRef ds:uri="http://schemas.microsoft.com/office/2006/metadata/properties"/>
    <ds:schemaRef ds:uri="http://schemas.microsoft.com/sharepoint/v3"/>
    <ds:schemaRef ds:uri="http://www.w3.org/XML/1998/namespace"/>
    <ds:schemaRef ds:uri="http://purl.org/dc/dcmityp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TM02892315[[fn=Wisp]]</Template>
  <TotalTime>3382</TotalTime>
  <Words>1104</Words>
  <Application>Microsoft Office PowerPoint</Application>
  <PresentationFormat>Widescreen</PresentationFormat>
  <Paragraphs>129</Paragraphs>
  <Slides>25</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Century Gothic</vt:lpstr>
      <vt:lpstr>Wingdings</vt:lpstr>
      <vt:lpstr>Wingdings 3</vt:lpstr>
      <vt:lpstr>Wisp</vt:lpstr>
      <vt:lpstr>PowerPoint Presentation</vt:lpstr>
      <vt:lpstr>PowerPoint Presentation</vt:lpstr>
      <vt:lpstr>What is fake news ?</vt:lpstr>
      <vt:lpstr>How Fake News Spreads</vt:lpstr>
      <vt:lpstr>Why Fake News is Dangerous</vt:lpstr>
      <vt:lpstr>Objective</vt:lpstr>
      <vt:lpstr>PowerPoint Presentation</vt:lpstr>
      <vt:lpstr>PowerPoint Presentation</vt:lpstr>
      <vt:lpstr>Naive Bayes Model</vt:lpstr>
      <vt:lpstr>Decision Tree</vt:lpstr>
      <vt:lpstr>Random Forest</vt:lpstr>
      <vt:lpstr>                           Logistic Regression</vt:lpstr>
      <vt:lpstr>PowerPoint Presentation</vt:lpstr>
      <vt:lpstr>Fake News Detection Workflow</vt:lpstr>
      <vt:lpstr>Fake News Detection Workflow Diagram</vt:lpstr>
      <vt:lpstr>Introduction to datasets</vt:lpstr>
      <vt:lpstr>Data Preprocessing </vt:lpstr>
      <vt:lpstr>Feature Extraction</vt:lpstr>
      <vt:lpstr>Prediction and Evaluation</vt:lpstr>
      <vt:lpstr>PowerPoint Presentation</vt:lpstr>
      <vt:lpstr>PowerPoint Presentation</vt:lpstr>
      <vt:lpstr>PowerPoint Presentation</vt:lpstr>
      <vt:lpstr>Conclusion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Amit Mondal</dc:creator>
  <cp:lastModifiedBy>anurag sharma</cp:lastModifiedBy>
  <cp:revision>23</cp:revision>
  <dcterms:created xsi:type="dcterms:W3CDTF">2025-03-10T04:22:00Z</dcterms:created>
  <dcterms:modified xsi:type="dcterms:W3CDTF">2025-05-01T06:14:36Z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